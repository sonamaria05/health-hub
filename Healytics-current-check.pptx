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8" r:id="rId3"/>
    <p:sldId id="259" r:id="rId4"/>
    <p:sldId id="265" r:id="rId5"/>
    <p:sldId id="261" r:id="rId6"/>
    <p:sldId id="267" r:id="rId7"/>
    <p:sldId id="268" r:id="rId8"/>
    <p:sldId id="269" r:id="rId9"/>
    <p:sldId id="271" r:id="rId10"/>
    <p:sldId id="274" r:id="rId11"/>
    <p:sldId id="273" r:id="rId12"/>
    <p:sldId id="272" r:id="rId13"/>
    <p:sldId id="270" r:id="rId14"/>
    <p:sldId id="266" r:id="rId15"/>
  </p:sldIdLst>
  <p:sldSz cx="14630400" cy="8229600"/>
  <p:notesSz cx="8229600" cy="14630400"/>
  <p:embeddedFontLst>
    <p:embeddedFont>
      <p:font typeface="Merriweather" panose="00000500000000000000" pitchFamily="2" charset="0"/>
      <p:regular r:id="rId17"/>
      <p:bold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555" autoAdjust="0"/>
    <p:restoredTop sz="94610"/>
  </p:normalViewPr>
  <p:slideViewPr>
    <p:cSldViewPr snapToGrid="0" snapToObjects="1">
      <p:cViewPr varScale="1">
        <p:scale>
          <a:sx n="69" d="100"/>
          <a:sy n="69" d="100"/>
        </p:scale>
        <p:origin x="86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4380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B651E-620A-B791-9BBA-DEB12E6B9F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5B8419-8D17-3033-A688-7B21CF38A58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1A6B74F-8730-239B-4701-902CF07F8A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E77D45-4AD7-F60E-72FC-CE33CF189A4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938075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599DA-A7D1-F3C9-D0C0-DD9DE9B9D1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454D91-469A-3BFD-670E-E8770C0B45E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F72C9E5-A4C0-DFFF-D61E-408B79E1CD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6067DB-35A3-6DC4-5E16-59C4159EE85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584522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A5526-8A56-6A04-1FCE-3B9862156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5B3CDC-615F-C158-79BE-51467664AF0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E553FBE-FDF2-C0E9-DB4C-398D3E606C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3BA8AA-C9D1-ABAE-4D7F-5D9FF02DE633}"/>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643498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6D859-0A9F-D0AF-EC46-871D8A1E47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DBF233-A3AF-028F-2816-E355A085625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3FEB3DA-20F9-1572-F9CA-78190CFEAA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DFB194-DD23-0409-280F-CAF0E787BA9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943845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2EEDA-4900-E5DC-E24D-EF87FD1C81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D7D928-6AFB-36B2-0AC0-CB8330A204D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274C0B8-0876-735B-FF43-5FFDCD3B0A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5DDE74-81A8-1BA7-0863-A0FE3017F0BC}"/>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2303098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36822-AAE3-170A-9CA3-00E2DD017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B10414-74B1-079F-0C1D-8FE42F8FA68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C230BC4-6E16-7FE2-6F5E-DE21F0881D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690212-22A3-C3C3-8F44-13E1563322D4}"/>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2932573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FFD17-C47A-AC31-7A2A-0D424C0A4A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0CA007-FEB6-6CD5-ECF5-AED81FDCBDE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F2BBB49-46D0-1B84-4F16-C723A6E007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C7B582-DC3E-FA68-7785-67CC29267590}"/>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146748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F7A1C-04B1-564C-E258-FDDA7A33D7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A466C-0087-4687-089F-3EA82629A64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EAD5E08-2F78-3F94-00A6-9B6DDF70FC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4838EE-BCA8-059C-8FD9-2FDF9DCC2609}"/>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1880075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C63E3-88FC-1EF2-ED69-A2D00E5354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7916CE-53A6-B811-8C75-CC10AB45FDF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68CC557-FA9E-91E4-64A4-192504A8DC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EACF88-93A6-06D0-8C59-9013746172A5}"/>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9663159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B4764-C680-A29E-BBBD-EF052A3C0C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5E016D-7BFB-2A76-7432-FEDA7DB9C03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900CD93-3EC1-545D-EA7A-C7EBA2CE95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402EB6-1D62-DD7F-48C6-9220989297F5}"/>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066324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technofaq.org/posts/2020/07/transforming-healthcare-with-predictive-analytics/"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notesSlide" Target="../notesSlides/notesSlide12.xml"/><Relationship Id="rId16"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sv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sv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extLst>
              <a:ext uri="{837473B0-CC2E-450A-ABE3-18F120FF3D39}">
                <a1611:picAttrSrcUrl xmlns:a1611="http://schemas.microsoft.com/office/drawing/2016/11/main" r:id="rId4"/>
              </a:ext>
            </a:extLst>
          </a:blip>
          <a:srcRect/>
          <a:stretch>
            <a:fillRect l="-3000" r="-3000"/>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7571EB7A-A4A7-90D2-AFA9-1C0C38257A8C}"/>
              </a:ext>
            </a:extLst>
          </p:cNvPr>
          <p:cNvPicPr>
            <a:picLocks noChangeAspect="1"/>
          </p:cNvPicPr>
          <p:nvPr/>
        </p:nvPicPr>
        <p:blipFill>
          <a:blip r:embed="rId5">
            <a:alphaModFix amt="15000"/>
          </a:blip>
          <a:stretch>
            <a:fillRect/>
          </a:stretch>
        </p:blipFill>
        <p:spPr>
          <a:xfrm>
            <a:off x="-259400" y="-39337"/>
            <a:ext cx="15149198" cy="8268937"/>
          </a:xfrm>
          <a:prstGeom prst="rect">
            <a:avLst/>
          </a:prstGeom>
        </p:spPr>
      </p:pic>
      <p:sp>
        <p:nvSpPr>
          <p:cNvPr id="3" name="Text 0"/>
          <p:cNvSpPr/>
          <p:nvPr/>
        </p:nvSpPr>
        <p:spPr>
          <a:xfrm>
            <a:off x="998032" y="813627"/>
            <a:ext cx="12634332" cy="2816066"/>
          </a:xfrm>
          <a:prstGeom prst="rect">
            <a:avLst/>
          </a:prstGeom>
          <a:noFill/>
          <a:ln/>
        </p:spPr>
        <p:txBody>
          <a:bodyPr wrap="square" lIns="0" tIns="0" rIns="0" bIns="0" rtlCol="0" anchor="t"/>
          <a:lstStyle/>
          <a:p>
            <a:pPr algn="ctr"/>
            <a:r>
              <a:rPr lang="en-US" sz="4000" b="1" dirty="0">
                <a:solidFill>
                  <a:schemeClr val="bg1"/>
                </a:solidFill>
                <a:latin typeface="Times New Roman" panose="02020603050405020304" pitchFamily="18" charset="0"/>
                <a:ea typeface="Unbounded" pitchFamily="34" charset="-122"/>
                <a:cs typeface="Times New Roman" panose="02020603050405020304" pitchFamily="18" charset="0"/>
              </a:rPr>
              <a:t>PBL </a:t>
            </a:r>
          </a:p>
          <a:p>
            <a:pPr algn="ctr"/>
            <a:r>
              <a:rPr lang="en-US" sz="3200" b="1" dirty="0">
                <a:solidFill>
                  <a:schemeClr val="bg1"/>
                </a:solidFill>
                <a:latin typeface="Times New Roman" panose="02020603050405020304" pitchFamily="18" charset="0"/>
                <a:cs typeface="Times New Roman" panose="02020603050405020304" pitchFamily="18" charset="0"/>
              </a:rPr>
              <a:t>Machine Learning – 22CSE62</a:t>
            </a:r>
          </a:p>
          <a:p>
            <a:pPr algn="ctr"/>
            <a:r>
              <a:rPr lang="en-US" sz="3200" b="1" dirty="0">
                <a:solidFill>
                  <a:schemeClr val="bg1"/>
                </a:solidFill>
                <a:latin typeface="Times New Roman" panose="02020603050405020304" pitchFamily="18" charset="0"/>
                <a:cs typeface="Times New Roman" panose="02020603050405020304" pitchFamily="18" charset="0"/>
              </a:rPr>
              <a:t>VI Sem</a:t>
            </a:r>
          </a:p>
        </p:txBody>
      </p:sp>
      <p:pic>
        <p:nvPicPr>
          <p:cNvPr id="5" name="Picture 4">
            <a:extLst>
              <a:ext uri="{FF2B5EF4-FFF2-40B4-BE49-F238E27FC236}">
                <a16:creationId xmlns:a16="http://schemas.microsoft.com/office/drawing/2014/main" id="{3202447A-6AEE-B428-4135-28710BC7515D}"/>
              </a:ext>
            </a:extLst>
          </p:cNvPr>
          <p:cNvPicPr>
            <a:picLocks noChangeAspect="1"/>
          </p:cNvPicPr>
          <p:nvPr/>
        </p:nvPicPr>
        <p:blipFill>
          <a:blip r:embed="rId6"/>
          <a:stretch>
            <a:fillRect/>
          </a:stretch>
        </p:blipFill>
        <p:spPr>
          <a:xfrm>
            <a:off x="12446013" y="7704283"/>
            <a:ext cx="2072875" cy="525317"/>
          </a:xfrm>
          <a:prstGeom prst="rect">
            <a:avLst/>
          </a:prstGeom>
        </p:spPr>
      </p:pic>
      <p:sp>
        <p:nvSpPr>
          <p:cNvPr id="6" name="TextBox 5">
            <a:extLst>
              <a:ext uri="{FF2B5EF4-FFF2-40B4-BE49-F238E27FC236}">
                <a16:creationId xmlns:a16="http://schemas.microsoft.com/office/drawing/2014/main" id="{0A156ABE-038F-5CC8-63E3-FFEDE33576AB}"/>
              </a:ext>
            </a:extLst>
          </p:cNvPr>
          <p:cNvSpPr txBox="1"/>
          <p:nvPr/>
        </p:nvSpPr>
        <p:spPr>
          <a:xfrm>
            <a:off x="998032" y="5104579"/>
            <a:ext cx="12634332" cy="2954655"/>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Submitted by: </a:t>
            </a:r>
          </a:p>
          <a:p>
            <a:r>
              <a:rPr lang="en-IN" b="1" dirty="0">
                <a:solidFill>
                  <a:schemeClr val="bg1"/>
                </a:solidFill>
                <a:latin typeface="Times New Roman" panose="02020603050405020304" pitchFamily="18" charset="0"/>
                <a:cs typeface="Times New Roman" panose="02020603050405020304" pitchFamily="18" charset="0"/>
              </a:rPr>
              <a:t>Sneha AS - 4SO23CS224</a:t>
            </a:r>
          </a:p>
          <a:p>
            <a:r>
              <a:rPr lang="en-IN" b="1" dirty="0">
                <a:solidFill>
                  <a:schemeClr val="bg1"/>
                </a:solidFill>
                <a:latin typeface="Times New Roman" panose="02020603050405020304" pitchFamily="18" charset="0"/>
                <a:cs typeface="Times New Roman" panose="02020603050405020304" pitchFamily="18" charset="0"/>
              </a:rPr>
              <a:t>Sona Maria P S - 4SO23CS227</a:t>
            </a:r>
          </a:p>
          <a:p>
            <a:r>
              <a:rPr lang="en-IN" b="1" dirty="0">
                <a:solidFill>
                  <a:schemeClr val="bg1"/>
                </a:solidFill>
                <a:latin typeface="Times New Roman" panose="02020603050405020304" pitchFamily="18" charset="0"/>
                <a:cs typeface="Times New Roman" panose="02020603050405020304" pitchFamily="18" charset="0"/>
              </a:rPr>
              <a:t>Palak Prakash </a:t>
            </a:r>
            <a:r>
              <a:rPr lang="en-IN" b="1" dirty="0" err="1">
                <a:solidFill>
                  <a:schemeClr val="bg1"/>
                </a:solidFill>
                <a:latin typeface="Times New Roman" panose="02020603050405020304" pitchFamily="18" charset="0"/>
                <a:cs typeface="Times New Roman" panose="02020603050405020304" pitchFamily="18" charset="0"/>
              </a:rPr>
              <a:t>Talekar</a:t>
            </a:r>
            <a:r>
              <a:rPr lang="en-IN" b="1" dirty="0">
                <a:solidFill>
                  <a:schemeClr val="bg1"/>
                </a:solidFill>
                <a:latin typeface="Times New Roman" panose="02020603050405020304" pitchFamily="18" charset="0"/>
                <a:cs typeface="Times New Roman" panose="02020603050405020304" pitchFamily="18" charset="0"/>
              </a:rPr>
              <a:t> - 4SO24CS413</a:t>
            </a:r>
          </a:p>
          <a:p>
            <a:r>
              <a:rPr lang="en-IN" b="1" dirty="0">
                <a:solidFill>
                  <a:schemeClr val="bg1"/>
                </a:solidFill>
                <a:latin typeface="Times New Roman" panose="02020603050405020304" pitchFamily="18" charset="0"/>
                <a:cs typeface="Times New Roman" panose="02020603050405020304" pitchFamily="18" charset="0"/>
              </a:rPr>
              <a:t>Rachita Rajesh </a:t>
            </a:r>
            <a:r>
              <a:rPr lang="en-IN" b="1" dirty="0" err="1">
                <a:solidFill>
                  <a:schemeClr val="bg1"/>
                </a:solidFill>
                <a:latin typeface="Times New Roman" panose="02020603050405020304" pitchFamily="18" charset="0"/>
                <a:cs typeface="Times New Roman" panose="02020603050405020304" pitchFamily="18" charset="0"/>
              </a:rPr>
              <a:t>Damsadekar</a:t>
            </a:r>
            <a:r>
              <a:rPr lang="en-IN" b="1" dirty="0">
                <a:solidFill>
                  <a:schemeClr val="bg1"/>
                </a:solidFill>
                <a:latin typeface="Times New Roman" panose="02020603050405020304" pitchFamily="18" charset="0"/>
                <a:cs typeface="Times New Roman" panose="02020603050405020304" pitchFamily="18" charset="0"/>
              </a:rPr>
              <a:t> - 4SO24CS415 </a:t>
            </a:r>
          </a:p>
          <a:p>
            <a:endParaRPr lang="en-IN" b="1" dirty="0">
              <a:solidFill>
                <a:schemeClr val="bg1"/>
              </a:solidFill>
              <a:latin typeface="Times New Roman" panose="02020603050405020304" pitchFamily="18" charset="0"/>
              <a:cs typeface="Times New Roman" panose="02020603050405020304" pitchFamily="18" charset="0"/>
            </a:endParaRPr>
          </a:p>
          <a:p>
            <a:pPr algn="ctr"/>
            <a:r>
              <a:rPr lang="en-IN" sz="2000" b="1" dirty="0">
                <a:solidFill>
                  <a:schemeClr val="bg1"/>
                </a:solidFill>
                <a:latin typeface="Times New Roman" panose="02020603050405020304" pitchFamily="18" charset="0"/>
                <a:cs typeface="Times New Roman" panose="02020603050405020304" pitchFamily="18" charset="0"/>
              </a:rPr>
              <a:t>Under the Guidance of </a:t>
            </a:r>
          </a:p>
          <a:p>
            <a:pPr algn="ctr"/>
            <a:r>
              <a:rPr lang="en-IN" dirty="0">
                <a:solidFill>
                  <a:schemeClr val="bg1"/>
                </a:solidFill>
                <a:latin typeface="Times New Roman" panose="02020603050405020304" pitchFamily="18" charset="0"/>
                <a:cs typeface="Times New Roman" panose="02020603050405020304" pitchFamily="18" charset="0"/>
              </a:rPr>
              <a:t>Ms </a:t>
            </a:r>
            <a:r>
              <a:rPr lang="en-IN" b="1" dirty="0">
                <a:solidFill>
                  <a:schemeClr val="bg1"/>
                </a:solidFill>
                <a:latin typeface="Times New Roman" panose="02020603050405020304" pitchFamily="18" charset="0"/>
                <a:cs typeface="Times New Roman" panose="02020603050405020304" pitchFamily="18" charset="0"/>
              </a:rPr>
              <a:t>Rakshitha Naresh</a:t>
            </a:r>
          </a:p>
          <a:p>
            <a:pPr algn="ctr"/>
            <a:r>
              <a:rPr lang="en-IN" sz="2000" b="1" dirty="0">
                <a:solidFill>
                  <a:schemeClr val="bg1"/>
                </a:solidFill>
                <a:latin typeface="Times New Roman" panose="02020603050405020304" pitchFamily="18" charset="0"/>
                <a:cs typeface="Times New Roman" panose="02020603050405020304" pitchFamily="18" charset="0"/>
              </a:rPr>
              <a:t>Assistant Professor, Department of CSE </a:t>
            </a:r>
          </a:p>
          <a:p>
            <a:endParaRPr lang="en-IN"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2916CE0-A618-BC84-FC6C-371643489230}"/>
              </a:ext>
            </a:extLst>
          </p:cNvPr>
          <p:cNvSpPr txBox="1"/>
          <p:nvPr/>
        </p:nvSpPr>
        <p:spPr>
          <a:xfrm>
            <a:off x="329271" y="2588413"/>
            <a:ext cx="13971853" cy="769441"/>
          </a:xfrm>
          <a:prstGeom prst="rect">
            <a:avLst/>
          </a:prstGeom>
          <a:noFill/>
        </p:spPr>
        <p:txBody>
          <a:bodyPr wrap="square" rtlCol="0">
            <a:spAutoFit/>
          </a:bodyPr>
          <a:lstStyle/>
          <a:p>
            <a:pPr algn="ctr"/>
            <a:r>
              <a:rPr lang="en-IN" sz="2200" b="1" dirty="0">
                <a:solidFill>
                  <a:schemeClr val="bg1"/>
                </a:solidFill>
                <a:latin typeface="Times New Roman" panose="02020603050405020304" pitchFamily="18" charset="0"/>
                <a:cs typeface="Times New Roman" panose="02020603050405020304" pitchFamily="18" charset="0"/>
              </a:rPr>
              <a:t>DEPARTMENT OF COMPUTER SCIENCE AND ENGINEERING</a:t>
            </a:r>
          </a:p>
          <a:p>
            <a:pPr algn="ctr"/>
            <a:r>
              <a:rPr lang="en-IN" sz="2200" b="1" dirty="0">
                <a:solidFill>
                  <a:schemeClr val="bg1"/>
                </a:solidFill>
                <a:latin typeface="Times New Roman" panose="02020603050405020304" pitchFamily="18" charset="0"/>
                <a:cs typeface="Times New Roman" panose="02020603050405020304" pitchFamily="18" charset="0"/>
              </a:rPr>
              <a:t>ST JOSEPH ENGINEERING COLLEGE</a:t>
            </a:r>
            <a:endParaRPr lang="en-IN" sz="2200" b="1" dirty="0">
              <a:latin typeface="Times New Roman" panose="02020603050405020304" pitchFamily="18" charset="0"/>
              <a:cs typeface="Times New Roman" panose="02020603050405020304" pitchFamily="18" charset="0"/>
            </a:endParaRPr>
          </a:p>
        </p:txBody>
      </p:sp>
      <p:sp>
        <p:nvSpPr>
          <p:cNvPr id="12" name="AutoShape 2" descr="Advanced Digital Health Data Analytics Interface, Digitalhealth, Data  Visualization, Biotechnology Background Image And Wallpaper for Free  Download">
            <a:extLst>
              <a:ext uri="{FF2B5EF4-FFF2-40B4-BE49-F238E27FC236}">
                <a16:creationId xmlns:a16="http://schemas.microsoft.com/office/drawing/2014/main" id="{7EDFD187-B89A-36C7-B5DD-B5C296B4E903}"/>
              </a:ext>
            </a:extLst>
          </p:cNvPr>
          <p:cNvSpPr>
            <a:spLocks noChangeAspect="1" noChangeArrowheads="1"/>
          </p:cNvSpPr>
          <p:nvPr/>
        </p:nvSpPr>
        <p:spPr bwMode="auto">
          <a:xfrm>
            <a:off x="7162800" y="3962400"/>
            <a:ext cx="5036634" cy="503663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b="1">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2D996A0-2793-93F3-3D84-26814D4907D5}"/>
              </a:ext>
            </a:extLst>
          </p:cNvPr>
          <p:cNvSpPr txBox="1"/>
          <p:nvPr/>
        </p:nvSpPr>
        <p:spPr>
          <a:xfrm>
            <a:off x="1636776" y="3804292"/>
            <a:ext cx="11356848" cy="1323439"/>
          </a:xfrm>
          <a:prstGeom prst="rect">
            <a:avLst/>
          </a:prstGeom>
          <a:noFill/>
        </p:spPr>
        <p:txBody>
          <a:bodyPr wrap="square" rtlCol="0">
            <a:spAutoFit/>
          </a:bodyPr>
          <a:lstStyle/>
          <a:p>
            <a:pPr algn="ctr"/>
            <a:r>
              <a:rPr lang="en-US" sz="4000" b="1" dirty="0" err="1">
                <a:solidFill>
                  <a:schemeClr val="bg1"/>
                </a:solidFill>
                <a:latin typeface="Times New Roman" panose="02020603050405020304" pitchFamily="18" charset="0"/>
                <a:cs typeface="Times New Roman" panose="02020603050405020304" pitchFamily="18" charset="0"/>
              </a:rPr>
              <a:t>Healytics</a:t>
            </a:r>
            <a:r>
              <a:rPr lang="en-US" sz="4000" b="1" dirty="0">
                <a:solidFill>
                  <a:schemeClr val="bg1"/>
                </a:solidFill>
                <a:latin typeface="Times New Roman" panose="02020603050405020304" pitchFamily="18" charset="0"/>
                <a:cs typeface="Times New Roman" panose="02020603050405020304" pitchFamily="18" charset="0"/>
              </a:rPr>
              <a:t>: A Patient-Centric Digital Health Record and Analytics Platform</a:t>
            </a:r>
            <a:endParaRPr lang="en-IN" sz="4000"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4B594DF-5593-5AFC-B2A0-5ECB1BD08B2F}"/>
              </a:ext>
            </a:extLst>
          </p:cNvPr>
          <p:cNvPicPr>
            <a:picLocks noChangeAspect="1"/>
          </p:cNvPicPr>
          <p:nvPr/>
        </p:nvPicPr>
        <p:blipFill>
          <a:blip r:embed="rId3">
            <a:alphaModFix amt="15000"/>
          </a:blip>
          <a:stretch>
            <a:fillRect/>
          </a:stretch>
        </p:blipFill>
        <p:spPr>
          <a:xfrm>
            <a:off x="-259400" y="-39337"/>
            <a:ext cx="15149198" cy="8268937"/>
          </a:xfrm>
          <a:prstGeom prst="rect">
            <a:avLst/>
          </a:prstGeom>
        </p:spPr>
      </p:pic>
      <p:sp>
        <p:nvSpPr>
          <p:cNvPr id="2" name="Text 0"/>
          <p:cNvSpPr/>
          <p:nvPr/>
        </p:nvSpPr>
        <p:spPr>
          <a:xfrm>
            <a:off x="837724" y="1841063"/>
            <a:ext cx="4505920" cy="563285"/>
          </a:xfrm>
          <a:prstGeom prst="rect">
            <a:avLst/>
          </a:prstGeom>
          <a:noFill/>
          <a:ln/>
        </p:spPr>
        <p:txBody>
          <a:bodyPr wrap="none" lIns="0" tIns="0" rIns="0" bIns="0" rtlCol="0" anchor="t"/>
          <a:lstStyle/>
          <a:p>
            <a:pPr marL="0" indent="0" algn="l">
              <a:lnSpc>
                <a:spcPts val="4400"/>
              </a:lnSpc>
              <a:buNone/>
            </a:pPr>
            <a:r>
              <a:rPr lang="en-US" sz="4700" b="1" dirty="0">
                <a:solidFill>
                  <a:schemeClr val="bg2"/>
                </a:solidFill>
                <a:latin typeface="Times New Roman" panose="02020603050405020304" pitchFamily="18" charset="0"/>
                <a:ea typeface="Unbounded" pitchFamily="34" charset="-122"/>
                <a:cs typeface="Times New Roman" panose="02020603050405020304" pitchFamily="18" charset="0"/>
              </a:rPr>
              <a:t>Background</a:t>
            </a:r>
            <a:endParaRPr lang="en-US" sz="4700" b="1" dirty="0">
              <a:solidFill>
                <a:schemeClr val="bg2"/>
              </a:solidFill>
              <a:latin typeface="Times New Roman" panose="02020603050405020304" pitchFamily="18" charset="0"/>
              <a:cs typeface="Times New Roman" panose="02020603050405020304" pitchFamily="18" charset="0"/>
            </a:endParaRPr>
          </a:p>
        </p:txBody>
      </p:sp>
      <p:sp>
        <p:nvSpPr>
          <p:cNvPr id="3" name="Shape 1"/>
          <p:cNvSpPr/>
          <p:nvPr/>
        </p:nvSpPr>
        <p:spPr>
          <a:xfrm>
            <a:off x="837724" y="3014722"/>
            <a:ext cx="119658" cy="119658"/>
          </a:xfrm>
          <a:prstGeom prst="roundRect">
            <a:avLst>
              <a:gd name="adj" fmla="val 382089"/>
            </a:avLst>
          </a:prstGeom>
          <a:solidFill>
            <a:srgbClr val="0A988B"/>
          </a:solidFill>
          <a:ln/>
        </p:spPr>
        <p:txBody>
          <a:bodyPr/>
          <a:lstStyle/>
          <a:p>
            <a:endParaRPr lang="en-IN" sz="2500" b="1">
              <a:solidFill>
                <a:schemeClr val="bg2"/>
              </a:solidFill>
              <a:latin typeface="Times New Roman" panose="02020603050405020304" pitchFamily="18" charset="0"/>
              <a:cs typeface="Times New Roman" panose="02020603050405020304" pitchFamily="18" charset="0"/>
            </a:endParaRPr>
          </a:p>
        </p:txBody>
      </p:sp>
      <p:sp>
        <p:nvSpPr>
          <p:cNvPr id="4" name="Text 2"/>
          <p:cNvSpPr/>
          <p:nvPr/>
        </p:nvSpPr>
        <p:spPr>
          <a:xfrm>
            <a:off x="1196697" y="2883098"/>
            <a:ext cx="5968841" cy="1149072"/>
          </a:xfrm>
          <a:prstGeom prst="rect">
            <a:avLst/>
          </a:prstGeom>
          <a:noFill/>
          <a:ln/>
        </p:spPr>
        <p:txBody>
          <a:bodyPr wrap="square" lIns="0" tIns="0" rIns="0" bIns="0" rtlCol="0" anchor="t"/>
          <a:lstStyle/>
          <a:p>
            <a:pPr>
              <a:lnSpc>
                <a:spcPts val="3000"/>
              </a:lnSpc>
            </a:pPr>
            <a:r>
              <a:rPr lang="en-US" sz="2500" b="1" dirty="0">
                <a:solidFill>
                  <a:schemeClr val="bg2"/>
                </a:solidFill>
                <a:latin typeface="Times New Roman" panose="02020603050405020304" pitchFamily="18" charset="0"/>
                <a:cs typeface="Times New Roman" panose="02020603050405020304" pitchFamily="18" charset="0"/>
              </a:rPr>
              <a:t>Healthcare systems generate large volumes of digital medical data such as lab reports, prescriptions, and diagnostic records.</a:t>
            </a:r>
          </a:p>
        </p:txBody>
      </p:sp>
      <p:sp>
        <p:nvSpPr>
          <p:cNvPr id="5" name="Shape 3"/>
          <p:cNvSpPr/>
          <p:nvPr/>
        </p:nvSpPr>
        <p:spPr>
          <a:xfrm>
            <a:off x="7464743" y="3014722"/>
            <a:ext cx="119658" cy="119658"/>
          </a:xfrm>
          <a:prstGeom prst="roundRect">
            <a:avLst>
              <a:gd name="adj" fmla="val 382089"/>
            </a:avLst>
          </a:prstGeom>
          <a:solidFill>
            <a:srgbClr val="0A988B"/>
          </a:solidFill>
          <a:ln/>
        </p:spPr>
        <p:txBody>
          <a:bodyPr/>
          <a:lstStyle/>
          <a:p>
            <a:endParaRPr lang="en-IN" sz="2500" b="1">
              <a:solidFill>
                <a:schemeClr val="bg2"/>
              </a:solidFill>
              <a:latin typeface="Times New Roman" panose="02020603050405020304" pitchFamily="18" charset="0"/>
              <a:cs typeface="Times New Roman" panose="02020603050405020304" pitchFamily="18" charset="0"/>
            </a:endParaRPr>
          </a:p>
        </p:txBody>
      </p:sp>
      <p:sp>
        <p:nvSpPr>
          <p:cNvPr id="6" name="Text 4"/>
          <p:cNvSpPr/>
          <p:nvPr/>
        </p:nvSpPr>
        <p:spPr>
          <a:xfrm>
            <a:off x="7823716" y="2883098"/>
            <a:ext cx="5968960" cy="766048"/>
          </a:xfrm>
          <a:prstGeom prst="rect">
            <a:avLst/>
          </a:prstGeom>
          <a:noFill/>
          <a:ln/>
        </p:spPr>
        <p:txBody>
          <a:bodyPr wrap="square" lIns="0" tIns="0" rIns="0" bIns="0" rtlCol="0" anchor="t"/>
          <a:lstStyle/>
          <a:p>
            <a:pPr lvl="0" eaLnBrk="0" fontAlgn="base" hangingPunct="0">
              <a:spcBef>
                <a:spcPct val="0"/>
              </a:spcBef>
              <a:spcAft>
                <a:spcPct val="0"/>
              </a:spcAft>
              <a:buFontTx/>
              <a:buChar char="•"/>
            </a:pPr>
            <a:r>
              <a:rPr lang="en-US" altLang="en-US" sz="2500" b="1" dirty="0">
                <a:solidFill>
                  <a:schemeClr val="bg2"/>
                </a:solidFill>
                <a:latin typeface="Times New Roman" panose="02020603050405020304" pitchFamily="18" charset="0"/>
                <a:cs typeface="Times New Roman" panose="02020603050405020304" pitchFamily="18" charset="0"/>
              </a:rPr>
              <a:t>These records are stored across different hospitals and platforms, resulting in fragmented and isolated information.</a:t>
            </a:r>
          </a:p>
          <a:p>
            <a:pPr lvl="0" eaLnBrk="0" fontAlgn="base" hangingPunct="0">
              <a:spcBef>
                <a:spcPct val="0"/>
              </a:spcBef>
              <a:spcAft>
                <a:spcPct val="0"/>
              </a:spcAft>
              <a:buFontTx/>
              <a:buChar char="•"/>
            </a:pPr>
            <a:endParaRPr lang="en-US" altLang="en-US" sz="2500" b="1" dirty="0">
              <a:solidFill>
                <a:schemeClr val="bg2"/>
              </a:solidFill>
              <a:latin typeface="Times New Roman" panose="02020603050405020304" pitchFamily="18" charset="0"/>
              <a:cs typeface="Times New Roman" panose="02020603050405020304" pitchFamily="18" charset="0"/>
            </a:endParaRPr>
          </a:p>
        </p:txBody>
      </p:sp>
      <p:sp>
        <p:nvSpPr>
          <p:cNvPr id="7" name="Shape 5"/>
          <p:cNvSpPr/>
          <p:nvPr/>
        </p:nvSpPr>
        <p:spPr>
          <a:xfrm>
            <a:off x="897552" y="5039082"/>
            <a:ext cx="119658" cy="119658"/>
          </a:xfrm>
          <a:prstGeom prst="roundRect">
            <a:avLst>
              <a:gd name="adj" fmla="val 382089"/>
            </a:avLst>
          </a:prstGeom>
          <a:solidFill>
            <a:srgbClr val="0A988B"/>
          </a:solidFill>
          <a:ln/>
        </p:spPr>
        <p:txBody>
          <a:bodyPr/>
          <a:lstStyle/>
          <a:p>
            <a:endParaRPr lang="en-IN" sz="2500" b="1">
              <a:solidFill>
                <a:schemeClr val="bg2"/>
              </a:solidFill>
              <a:latin typeface="Times New Roman" panose="02020603050405020304" pitchFamily="18" charset="0"/>
              <a:cs typeface="Times New Roman" panose="02020603050405020304" pitchFamily="18" charset="0"/>
            </a:endParaRPr>
          </a:p>
        </p:txBody>
      </p:sp>
      <p:sp>
        <p:nvSpPr>
          <p:cNvPr id="8" name="Text 6"/>
          <p:cNvSpPr/>
          <p:nvPr/>
        </p:nvSpPr>
        <p:spPr>
          <a:xfrm>
            <a:off x="1196696" y="4893945"/>
            <a:ext cx="5968841" cy="766048"/>
          </a:xfrm>
          <a:prstGeom prst="rect">
            <a:avLst/>
          </a:prstGeom>
          <a:noFill/>
          <a:ln/>
        </p:spPr>
        <p:txBody>
          <a:bodyPr wrap="square" lIns="0" tIns="0" rIns="0" bIns="0" rtlCol="0" anchor="t"/>
          <a:lstStyle/>
          <a:p>
            <a:pPr lvl="0" eaLnBrk="0" fontAlgn="base" hangingPunct="0">
              <a:spcBef>
                <a:spcPct val="0"/>
              </a:spcBef>
              <a:spcAft>
                <a:spcPct val="0"/>
              </a:spcAft>
              <a:buFontTx/>
              <a:buChar char="•"/>
            </a:pPr>
            <a:r>
              <a:rPr lang="en-US" altLang="en-US" sz="2500" b="1" dirty="0">
                <a:solidFill>
                  <a:schemeClr val="bg2"/>
                </a:solidFill>
                <a:latin typeface="Times New Roman" panose="02020603050405020304" pitchFamily="18" charset="0"/>
                <a:cs typeface="Times New Roman" panose="02020603050405020304" pitchFamily="18" charset="0"/>
              </a:rPr>
              <a:t>Lack of integration makes it difficult to obtain a complete and continuous view of a person’s medical history.</a:t>
            </a:r>
          </a:p>
          <a:p>
            <a:pPr lvl="0" eaLnBrk="0" fontAlgn="base" hangingPunct="0">
              <a:spcBef>
                <a:spcPct val="0"/>
              </a:spcBef>
              <a:spcAft>
                <a:spcPct val="0"/>
              </a:spcAft>
              <a:buFontTx/>
              <a:buChar char="•"/>
            </a:pPr>
            <a:endParaRPr lang="en-US" altLang="en-US" sz="2500" b="1" dirty="0">
              <a:solidFill>
                <a:schemeClr val="bg2"/>
              </a:solidFill>
              <a:latin typeface="Times New Roman" panose="02020603050405020304" pitchFamily="18" charset="0"/>
              <a:cs typeface="Times New Roman" panose="02020603050405020304" pitchFamily="18" charset="0"/>
            </a:endParaRPr>
          </a:p>
        </p:txBody>
      </p:sp>
      <p:sp>
        <p:nvSpPr>
          <p:cNvPr id="9" name="Shape 7"/>
          <p:cNvSpPr/>
          <p:nvPr/>
        </p:nvSpPr>
        <p:spPr>
          <a:xfrm>
            <a:off x="7524572" y="5032669"/>
            <a:ext cx="119658" cy="119658"/>
          </a:xfrm>
          <a:prstGeom prst="roundRect">
            <a:avLst>
              <a:gd name="adj" fmla="val 382089"/>
            </a:avLst>
          </a:prstGeom>
          <a:solidFill>
            <a:srgbClr val="0A988B"/>
          </a:solidFill>
          <a:ln/>
        </p:spPr>
        <p:txBody>
          <a:bodyPr/>
          <a:lstStyle/>
          <a:p>
            <a:endParaRPr lang="en-IN" sz="2500" b="1">
              <a:solidFill>
                <a:schemeClr val="bg2"/>
              </a:solidFill>
              <a:latin typeface="Times New Roman" panose="02020603050405020304" pitchFamily="18" charset="0"/>
              <a:cs typeface="Times New Roman" panose="02020603050405020304" pitchFamily="18" charset="0"/>
            </a:endParaRPr>
          </a:p>
        </p:txBody>
      </p:sp>
      <p:sp>
        <p:nvSpPr>
          <p:cNvPr id="10" name="Text 8"/>
          <p:cNvSpPr/>
          <p:nvPr/>
        </p:nvSpPr>
        <p:spPr>
          <a:xfrm>
            <a:off x="7823716" y="4893945"/>
            <a:ext cx="5968960" cy="766048"/>
          </a:xfrm>
          <a:prstGeom prst="rect">
            <a:avLst/>
          </a:prstGeom>
          <a:noFill/>
          <a:ln/>
        </p:spPr>
        <p:txBody>
          <a:bodyPr wrap="square" lIns="0" tIns="0" rIns="0" bIns="0" rtlCol="0" anchor="t"/>
          <a:lstStyle/>
          <a:p>
            <a:r>
              <a:rPr lang="en-US" sz="2500" b="1" dirty="0">
                <a:solidFill>
                  <a:schemeClr val="bg2"/>
                </a:solidFill>
                <a:latin typeface="Times New Roman" panose="02020603050405020304" pitchFamily="18" charset="0"/>
                <a:cs typeface="Times New Roman" panose="02020603050405020304" pitchFamily="18" charset="0"/>
              </a:rPr>
              <a:t>The growing use of electronic health records highlights the need for unified and data-driven healthcare systems.</a:t>
            </a:r>
          </a:p>
        </p:txBody>
      </p:sp>
      <p:pic>
        <p:nvPicPr>
          <p:cNvPr id="11" name="Picture 10">
            <a:extLst>
              <a:ext uri="{FF2B5EF4-FFF2-40B4-BE49-F238E27FC236}">
                <a16:creationId xmlns:a16="http://schemas.microsoft.com/office/drawing/2014/main" id="{CFA8EFDF-5BD9-F872-C770-DFFC32DFE730}"/>
              </a:ext>
            </a:extLst>
          </p:cNvPr>
          <p:cNvPicPr>
            <a:picLocks noChangeAspect="1"/>
          </p:cNvPicPr>
          <p:nvPr/>
        </p:nvPicPr>
        <p:blipFill>
          <a:blip r:embed="rId4"/>
          <a:stretch>
            <a:fillRect/>
          </a:stretch>
        </p:blipFill>
        <p:spPr>
          <a:xfrm>
            <a:off x="12446013" y="7704283"/>
            <a:ext cx="2072875" cy="52531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9552417F-2C43-0EED-0FB1-9F45E2BA2BD5}"/>
              </a:ext>
            </a:extLst>
          </p:cNvPr>
          <p:cNvPicPr>
            <a:picLocks noChangeAspect="1"/>
          </p:cNvPicPr>
          <p:nvPr/>
        </p:nvPicPr>
        <p:blipFill>
          <a:blip r:embed="rId3">
            <a:alphaModFix amt="15000"/>
          </a:blip>
          <a:stretch>
            <a:fillRect/>
          </a:stretch>
        </p:blipFill>
        <p:spPr>
          <a:xfrm>
            <a:off x="-259400" y="-39337"/>
            <a:ext cx="15149198" cy="8268937"/>
          </a:xfrm>
          <a:prstGeom prst="rect">
            <a:avLst/>
          </a:prstGeom>
        </p:spPr>
      </p:pic>
      <p:sp>
        <p:nvSpPr>
          <p:cNvPr id="2" name="Text 0"/>
          <p:cNvSpPr/>
          <p:nvPr/>
        </p:nvSpPr>
        <p:spPr>
          <a:xfrm>
            <a:off x="837724" y="1878687"/>
            <a:ext cx="5287447" cy="563285"/>
          </a:xfrm>
          <a:prstGeom prst="rect">
            <a:avLst/>
          </a:prstGeom>
          <a:noFill/>
          <a:ln/>
        </p:spPr>
        <p:txBody>
          <a:bodyPr wrap="none" lIns="0" tIns="0" rIns="0" bIns="0" rtlCol="0" anchor="t"/>
          <a:lstStyle/>
          <a:p>
            <a:pPr marL="0" indent="0" algn="l">
              <a:lnSpc>
                <a:spcPts val="4400"/>
              </a:lnSpc>
              <a:buNone/>
            </a:pPr>
            <a:r>
              <a:rPr lang="en-US" sz="4700" b="1" dirty="0">
                <a:solidFill>
                  <a:schemeClr val="bg1"/>
                </a:solidFill>
                <a:latin typeface="Times New Roman" panose="02020603050405020304" pitchFamily="18" charset="0"/>
                <a:ea typeface="Unbounded" pitchFamily="34" charset="-122"/>
                <a:cs typeface="Times New Roman" panose="02020603050405020304" pitchFamily="18" charset="0"/>
              </a:rPr>
              <a:t>Problem Statement</a:t>
            </a:r>
            <a:endParaRPr lang="en-US" sz="4700" b="1" dirty="0">
              <a:solidFill>
                <a:schemeClr val="bg1"/>
              </a:solidFill>
              <a:latin typeface="Times New Roman" panose="02020603050405020304" pitchFamily="18" charset="0"/>
              <a:cs typeface="Times New Roman" panose="02020603050405020304" pitchFamily="18" charset="0"/>
            </a:endParaRPr>
          </a:p>
        </p:txBody>
      </p:sp>
      <p:sp>
        <p:nvSpPr>
          <p:cNvPr id="5" name="Text 3"/>
          <p:cNvSpPr/>
          <p:nvPr/>
        </p:nvSpPr>
        <p:spPr>
          <a:xfrm>
            <a:off x="1198959" y="3304150"/>
            <a:ext cx="5726787" cy="1055846"/>
          </a:xfrm>
          <a:prstGeom prst="rect">
            <a:avLst/>
          </a:prstGeom>
          <a:noFill/>
          <a:ln/>
        </p:spPr>
        <p:txBody>
          <a:bodyPr wrap="square" lIns="0" tIns="0" rIns="0" bIns="0" rtlCol="0" anchor="t"/>
          <a:lstStyle/>
          <a:p>
            <a:pPr marL="0" indent="0" algn="l">
              <a:lnSpc>
                <a:spcPts val="2750"/>
              </a:lnSpc>
              <a:buNone/>
            </a:pPr>
            <a:endParaRPr lang="en-US" sz="2500" b="1" dirty="0">
              <a:solidFill>
                <a:schemeClr val="bg1"/>
              </a:solidFill>
              <a:latin typeface="Times New Roman" panose="02020603050405020304" pitchFamily="18" charset="0"/>
              <a:cs typeface="Times New Roman" panose="02020603050405020304" pitchFamily="18" charset="0"/>
            </a:endParaRPr>
          </a:p>
        </p:txBody>
      </p:sp>
      <p:sp>
        <p:nvSpPr>
          <p:cNvPr id="8" name="Text 6"/>
          <p:cNvSpPr/>
          <p:nvPr/>
        </p:nvSpPr>
        <p:spPr>
          <a:xfrm>
            <a:off x="7796093" y="3190518"/>
            <a:ext cx="5726787" cy="1055846"/>
          </a:xfrm>
          <a:prstGeom prst="rect">
            <a:avLst/>
          </a:prstGeom>
          <a:noFill/>
          <a:ln/>
        </p:spPr>
        <p:txBody>
          <a:bodyPr wrap="square" lIns="0" tIns="0" rIns="0" bIns="0" rtlCol="0" anchor="t"/>
          <a:lstStyle/>
          <a:p>
            <a:pPr marL="0" indent="0" algn="l">
              <a:lnSpc>
                <a:spcPts val="2750"/>
              </a:lnSpc>
              <a:buNone/>
            </a:pPr>
            <a:endParaRPr lang="en-US" sz="2500" b="1" dirty="0">
              <a:solidFill>
                <a:schemeClr val="bg1"/>
              </a:solidFill>
              <a:latin typeface="Times New Roman" panose="02020603050405020304" pitchFamily="18" charset="0"/>
              <a:cs typeface="Times New Roman" panose="02020603050405020304" pitchFamily="18" charset="0"/>
            </a:endParaRPr>
          </a:p>
        </p:txBody>
      </p:sp>
      <p:sp>
        <p:nvSpPr>
          <p:cNvPr id="11" name="Text 9"/>
          <p:cNvSpPr/>
          <p:nvPr/>
        </p:nvSpPr>
        <p:spPr>
          <a:xfrm>
            <a:off x="1198959" y="5201245"/>
            <a:ext cx="5726787" cy="703898"/>
          </a:xfrm>
          <a:prstGeom prst="rect">
            <a:avLst/>
          </a:prstGeom>
          <a:noFill/>
          <a:ln/>
        </p:spPr>
        <p:txBody>
          <a:bodyPr wrap="square" lIns="0" tIns="0" rIns="0" bIns="0" rtlCol="0" anchor="t"/>
          <a:lstStyle/>
          <a:p>
            <a:pPr marL="0" indent="0" algn="l">
              <a:lnSpc>
                <a:spcPts val="2750"/>
              </a:lnSpc>
              <a:buNone/>
            </a:pPr>
            <a:endParaRPr lang="en-US" sz="2500" b="1" dirty="0">
              <a:solidFill>
                <a:schemeClr val="bg1"/>
              </a:solidFill>
              <a:latin typeface="Times New Roman" panose="02020603050405020304" pitchFamily="18" charset="0"/>
              <a:cs typeface="Times New Roman" panose="02020603050405020304" pitchFamily="18" charset="0"/>
            </a:endParaRPr>
          </a:p>
        </p:txBody>
      </p:sp>
      <p:sp>
        <p:nvSpPr>
          <p:cNvPr id="14" name="Text 12"/>
          <p:cNvSpPr/>
          <p:nvPr/>
        </p:nvSpPr>
        <p:spPr>
          <a:xfrm>
            <a:off x="7796093" y="5025271"/>
            <a:ext cx="5726787" cy="1055846"/>
          </a:xfrm>
          <a:prstGeom prst="rect">
            <a:avLst/>
          </a:prstGeom>
          <a:noFill/>
          <a:ln/>
        </p:spPr>
        <p:txBody>
          <a:bodyPr wrap="square" lIns="0" tIns="0" rIns="0" bIns="0" rtlCol="0" anchor="t"/>
          <a:lstStyle/>
          <a:p>
            <a:pPr marL="0" indent="0" algn="l">
              <a:lnSpc>
                <a:spcPts val="2750"/>
              </a:lnSpc>
              <a:buNone/>
            </a:pPr>
            <a:endParaRPr lang="en-US" sz="2500" b="1" dirty="0">
              <a:solidFill>
                <a:schemeClr val="bg1"/>
              </a:solidFill>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81E483EB-93AE-00C6-CD3D-7AD3C11D80AF}"/>
              </a:ext>
            </a:extLst>
          </p:cNvPr>
          <p:cNvPicPr>
            <a:picLocks noChangeAspect="1"/>
          </p:cNvPicPr>
          <p:nvPr/>
        </p:nvPicPr>
        <p:blipFill>
          <a:blip r:embed="rId4"/>
          <a:stretch>
            <a:fillRect/>
          </a:stretch>
        </p:blipFill>
        <p:spPr>
          <a:xfrm>
            <a:off x="12446013" y="7704283"/>
            <a:ext cx="2072875" cy="525317"/>
          </a:xfrm>
          <a:prstGeom prst="rect">
            <a:avLst/>
          </a:prstGeom>
        </p:spPr>
      </p:pic>
      <p:sp>
        <p:nvSpPr>
          <p:cNvPr id="4" name="TextBox 3">
            <a:extLst>
              <a:ext uri="{FF2B5EF4-FFF2-40B4-BE49-F238E27FC236}">
                <a16:creationId xmlns:a16="http://schemas.microsoft.com/office/drawing/2014/main" id="{29E27F03-1970-90F7-66C5-0FCFA7D79998}"/>
              </a:ext>
            </a:extLst>
          </p:cNvPr>
          <p:cNvSpPr txBox="1"/>
          <p:nvPr/>
        </p:nvSpPr>
        <p:spPr>
          <a:xfrm>
            <a:off x="837723" y="3017520"/>
            <a:ext cx="13152597" cy="3539430"/>
          </a:xfrm>
          <a:prstGeom prst="rect">
            <a:avLst/>
          </a:prstGeom>
          <a:noFill/>
        </p:spPr>
        <p:txBody>
          <a:bodyPr wrap="square" rtlCol="0">
            <a:spAutoFit/>
          </a:bodyPr>
          <a:lstStyle/>
          <a:p>
            <a:pPr lvl="0">
              <a:buClr>
                <a:srgbClr val="E2E6E9"/>
              </a:buClr>
              <a:buSzPts val="1900"/>
            </a:pPr>
            <a:r>
              <a:rPr lang="en-US" sz="2800" b="1" dirty="0">
                <a:solidFill>
                  <a:srgbClr val="E2E6E9"/>
                </a:solidFill>
                <a:latin typeface="Times New Roman" panose="02020603050405020304" pitchFamily="18" charset="0"/>
                <a:ea typeface="Merriweather"/>
                <a:cs typeface="Merriweather"/>
                <a:sym typeface="Merriweather"/>
              </a:rPr>
              <a:t>In today's healthcare system, patients store medical reports in paper or digital formats such as PDFs and images. These records are unstructured, scattered, and difficult to analyze. Patients often struggle to track past medical values, identify health trends, or interpret their reports effectively. Existing digital health platforms mainly provide storage or appointment services but do not convert reports into structured data or provide analytical insights. Therefore, there is a need for a patient-centric system that can digitize medical reports, extract key health parameters, and provide basic predictive insights to support proactive health management.</a:t>
            </a:r>
            <a:endParaRPr lang="en-US"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34D62-6F54-6F28-3E60-1C652EB86453}"/>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668B4584-BF0F-55DB-540A-AAA5512C5E16}"/>
              </a:ext>
            </a:extLst>
          </p:cNvPr>
          <p:cNvPicPr>
            <a:picLocks noChangeAspect="1"/>
          </p:cNvPicPr>
          <p:nvPr/>
        </p:nvPicPr>
        <p:blipFill>
          <a:blip r:embed="rId3">
            <a:alphaModFix amt="15000"/>
          </a:blip>
          <a:stretch>
            <a:fillRect/>
          </a:stretch>
        </p:blipFill>
        <p:spPr>
          <a:xfrm>
            <a:off x="-259400" y="-39337"/>
            <a:ext cx="15149198" cy="8268937"/>
          </a:xfrm>
          <a:prstGeom prst="rect">
            <a:avLst/>
          </a:prstGeom>
        </p:spPr>
      </p:pic>
      <p:sp>
        <p:nvSpPr>
          <p:cNvPr id="2" name="Text 0">
            <a:extLst>
              <a:ext uri="{FF2B5EF4-FFF2-40B4-BE49-F238E27FC236}">
                <a16:creationId xmlns:a16="http://schemas.microsoft.com/office/drawing/2014/main" id="{B93262EE-9500-D7BB-0570-ED7A8B75DE64}"/>
              </a:ext>
            </a:extLst>
          </p:cNvPr>
          <p:cNvSpPr/>
          <p:nvPr/>
        </p:nvSpPr>
        <p:spPr>
          <a:xfrm>
            <a:off x="837724" y="1878687"/>
            <a:ext cx="5287447" cy="563285"/>
          </a:xfrm>
          <a:prstGeom prst="rect">
            <a:avLst/>
          </a:prstGeom>
          <a:noFill/>
          <a:ln/>
        </p:spPr>
        <p:txBody>
          <a:bodyPr wrap="none" lIns="0" tIns="0" rIns="0" bIns="0" rtlCol="0" anchor="t"/>
          <a:lstStyle/>
          <a:p>
            <a:pPr>
              <a:lnSpc>
                <a:spcPts val="4400"/>
              </a:lnSpc>
            </a:pPr>
            <a:r>
              <a:rPr lang="en-US" sz="4700" b="1" dirty="0">
                <a:solidFill>
                  <a:schemeClr val="bg1"/>
                </a:solidFill>
                <a:latin typeface="Times New Roman" panose="02020603050405020304" pitchFamily="18" charset="0"/>
                <a:ea typeface="Unbounded" pitchFamily="34" charset="-122"/>
                <a:cs typeface="Times New Roman" panose="02020603050405020304" pitchFamily="18" charset="0"/>
              </a:rPr>
              <a:t>Proposed Solution: Healytics</a:t>
            </a:r>
            <a:endParaRPr lang="en-US" sz="4700" b="1" dirty="0">
              <a:solidFill>
                <a:schemeClr val="bg1"/>
              </a:solidFill>
              <a:latin typeface="Times New Roman" panose="02020603050405020304" pitchFamily="18" charset="0"/>
              <a:cs typeface="Times New Roman" panose="02020603050405020304" pitchFamily="18" charset="0"/>
            </a:endParaRPr>
          </a:p>
        </p:txBody>
      </p:sp>
      <p:sp>
        <p:nvSpPr>
          <p:cNvPr id="3" name="Shape 1">
            <a:extLst>
              <a:ext uri="{FF2B5EF4-FFF2-40B4-BE49-F238E27FC236}">
                <a16:creationId xmlns:a16="http://schemas.microsoft.com/office/drawing/2014/main" id="{8A7B5DAC-3294-680F-9736-68CB0F8536FB}"/>
              </a:ext>
            </a:extLst>
          </p:cNvPr>
          <p:cNvSpPr/>
          <p:nvPr/>
        </p:nvSpPr>
        <p:spPr>
          <a:xfrm>
            <a:off x="837724" y="2920722"/>
            <a:ext cx="6357818" cy="1595438"/>
          </a:xfrm>
          <a:prstGeom prst="roundRect">
            <a:avLst>
              <a:gd name="adj" fmla="val 9170"/>
            </a:avLst>
          </a:prstGeom>
          <a:solidFill>
            <a:srgbClr val="112836"/>
          </a:solidFill>
          <a:ln w="30480">
            <a:solidFill>
              <a:srgbClr val="49606E"/>
            </a:solidFill>
            <a:prstDash val="solid"/>
          </a:ln>
        </p:spPr>
        <p:txBody>
          <a:bodyPr/>
          <a:lstStyle/>
          <a:p>
            <a:endParaRPr lang="en-IN" sz="2500" b="1">
              <a:solidFill>
                <a:schemeClr val="bg1"/>
              </a:solidFill>
              <a:latin typeface="Times New Roman" panose="02020603050405020304" pitchFamily="18" charset="0"/>
              <a:cs typeface="Times New Roman" panose="02020603050405020304" pitchFamily="18" charset="0"/>
            </a:endParaRPr>
          </a:p>
        </p:txBody>
      </p:sp>
      <p:sp>
        <p:nvSpPr>
          <p:cNvPr id="4" name="Shape 2">
            <a:extLst>
              <a:ext uri="{FF2B5EF4-FFF2-40B4-BE49-F238E27FC236}">
                <a16:creationId xmlns:a16="http://schemas.microsoft.com/office/drawing/2014/main" id="{B239FECD-832A-1ADD-0C6F-CB1BC47E2682}"/>
              </a:ext>
            </a:extLst>
          </p:cNvPr>
          <p:cNvSpPr/>
          <p:nvPr/>
        </p:nvSpPr>
        <p:spPr>
          <a:xfrm>
            <a:off x="807244" y="2920722"/>
            <a:ext cx="121920" cy="1595438"/>
          </a:xfrm>
          <a:prstGeom prst="roundRect">
            <a:avLst>
              <a:gd name="adj" fmla="val 29451"/>
            </a:avLst>
          </a:prstGeom>
          <a:solidFill>
            <a:srgbClr val="0A988B"/>
          </a:solidFill>
          <a:ln/>
        </p:spPr>
        <p:txBody>
          <a:bodyPr/>
          <a:lstStyle/>
          <a:p>
            <a:endParaRPr lang="en-IN" sz="2500" b="1">
              <a:solidFill>
                <a:schemeClr val="bg1"/>
              </a:solidFill>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3E4EAE50-7923-3EFE-07B2-883AE1F2C4C0}"/>
              </a:ext>
            </a:extLst>
          </p:cNvPr>
          <p:cNvSpPr/>
          <p:nvPr/>
        </p:nvSpPr>
        <p:spPr>
          <a:xfrm>
            <a:off x="1198959" y="3304150"/>
            <a:ext cx="5726787" cy="1055846"/>
          </a:xfrm>
          <a:prstGeom prst="rect">
            <a:avLst/>
          </a:prstGeom>
          <a:noFill/>
          <a:ln/>
        </p:spPr>
        <p:txBody>
          <a:bodyPr wrap="square" lIns="0" tIns="0" rIns="0" bIns="0" rtlCol="0" anchor="t"/>
          <a:lstStyle/>
          <a:p>
            <a:pPr marL="342900" indent="-342900">
              <a:lnSpc>
                <a:spcPts val="3000"/>
              </a:lnSpc>
              <a:buSzPct val="100000"/>
              <a:buChar char="•"/>
            </a:pPr>
            <a:r>
              <a:rPr lang="en-US" sz="2500" b="1" dirty="0">
                <a:solidFill>
                  <a:schemeClr val="bg1"/>
                </a:solidFill>
                <a:latin typeface="Times New Roman" panose="02020603050405020304" pitchFamily="18" charset="0"/>
                <a:ea typeface="Cabin" pitchFamily="34" charset="-122"/>
                <a:cs typeface="Times New Roman" panose="02020603050405020304" pitchFamily="18" charset="0"/>
              </a:rPr>
              <a:t>Healytics is a centralized digital health record and analytics platform.</a:t>
            </a:r>
          </a:p>
        </p:txBody>
      </p:sp>
      <p:sp>
        <p:nvSpPr>
          <p:cNvPr id="6" name="Shape 4">
            <a:extLst>
              <a:ext uri="{FF2B5EF4-FFF2-40B4-BE49-F238E27FC236}">
                <a16:creationId xmlns:a16="http://schemas.microsoft.com/office/drawing/2014/main" id="{B5494C68-2C9D-CEAE-E931-C746AA65CE05}"/>
              </a:ext>
            </a:extLst>
          </p:cNvPr>
          <p:cNvSpPr/>
          <p:nvPr/>
        </p:nvSpPr>
        <p:spPr>
          <a:xfrm>
            <a:off x="7434858" y="2920722"/>
            <a:ext cx="6357818" cy="1595438"/>
          </a:xfrm>
          <a:prstGeom prst="roundRect">
            <a:avLst>
              <a:gd name="adj" fmla="val 9170"/>
            </a:avLst>
          </a:prstGeom>
          <a:solidFill>
            <a:srgbClr val="112836"/>
          </a:solidFill>
          <a:ln w="30480">
            <a:solidFill>
              <a:srgbClr val="49606E"/>
            </a:solidFill>
            <a:prstDash val="solid"/>
          </a:ln>
        </p:spPr>
        <p:txBody>
          <a:bodyPr/>
          <a:lstStyle/>
          <a:p>
            <a:endParaRPr lang="en-IN" sz="2500" b="1">
              <a:solidFill>
                <a:schemeClr val="bg1"/>
              </a:solidFill>
              <a:latin typeface="Times New Roman" panose="02020603050405020304" pitchFamily="18" charset="0"/>
              <a:cs typeface="Times New Roman" panose="02020603050405020304" pitchFamily="18" charset="0"/>
            </a:endParaRPr>
          </a:p>
        </p:txBody>
      </p:sp>
      <p:sp>
        <p:nvSpPr>
          <p:cNvPr id="7" name="Shape 5">
            <a:extLst>
              <a:ext uri="{FF2B5EF4-FFF2-40B4-BE49-F238E27FC236}">
                <a16:creationId xmlns:a16="http://schemas.microsoft.com/office/drawing/2014/main" id="{E86EB27A-0D56-52BA-C195-D924464F1FDA}"/>
              </a:ext>
            </a:extLst>
          </p:cNvPr>
          <p:cNvSpPr/>
          <p:nvPr/>
        </p:nvSpPr>
        <p:spPr>
          <a:xfrm>
            <a:off x="7404378" y="2920722"/>
            <a:ext cx="121920" cy="1595438"/>
          </a:xfrm>
          <a:prstGeom prst="roundRect">
            <a:avLst>
              <a:gd name="adj" fmla="val 29451"/>
            </a:avLst>
          </a:prstGeom>
          <a:solidFill>
            <a:srgbClr val="0A988B"/>
          </a:solidFill>
          <a:ln/>
        </p:spPr>
        <p:txBody>
          <a:bodyPr/>
          <a:lstStyle/>
          <a:p>
            <a:endParaRPr lang="en-IN" sz="2500" b="1">
              <a:solidFill>
                <a:schemeClr val="bg1"/>
              </a:solidFill>
              <a:latin typeface="Times New Roman" panose="02020603050405020304" pitchFamily="18" charset="0"/>
              <a:cs typeface="Times New Roman" panose="02020603050405020304" pitchFamily="18" charset="0"/>
            </a:endParaRPr>
          </a:p>
        </p:txBody>
      </p:sp>
      <p:sp>
        <p:nvSpPr>
          <p:cNvPr id="8" name="Text 6">
            <a:extLst>
              <a:ext uri="{FF2B5EF4-FFF2-40B4-BE49-F238E27FC236}">
                <a16:creationId xmlns:a16="http://schemas.microsoft.com/office/drawing/2014/main" id="{E3AF6B41-B2FF-8797-65FB-11579BA0B4D4}"/>
              </a:ext>
            </a:extLst>
          </p:cNvPr>
          <p:cNvSpPr/>
          <p:nvPr/>
        </p:nvSpPr>
        <p:spPr>
          <a:xfrm>
            <a:off x="7796093" y="3292740"/>
            <a:ext cx="5726787" cy="1055846"/>
          </a:xfrm>
          <a:prstGeom prst="rect">
            <a:avLst/>
          </a:prstGeom>
          <a:noFill/>
          <a:ln/>
        </p:spPr>
        <p:txBody>
          <a:bodyPr wrap="square" lIns="0" tIns="0" rIns="0" bIns="0" rtlCol="0" anchor="t"/>
          <a:lstStyle/>
          <a:p>
            <a:pPr marL="342900" indent="-342900">
              <a:lnSpc>
                <a:spcPts val="3000"/>
              </a:lnSpc>
              <a:buSzPct val="100000"/>
              <a:buChar char="•"/>
            </a:pPr>
            <a:r>
              <a:rPr lang="en-US" sz="2500" b="1" dirty="0">
                <a:solidFill>
                  <a:schemeClr val="bg1"/>
                </a:solidFill>
                <a:latin typeface="Times New Roman" panose="02020603050405020304" pitchFamily="18" charset="0"/>
                <a:ea typeface="Cabin" pitchFamily="34" charset="-122"/>
                <a:cs typeface="Times New Roman" panose="02020603050405020304" pitchFamily="18" charset="0"/>
              </a:rPr>
              <a:t>It aggregates medical records from multiple healthcare sources.</a:t>
            </a:r>
          </a:p>
        </p:txBody>
      </p:sp>
      <p:sp>
        <p:nvSpPr>
          <p:cNvPr id="9" name="Shape 7">
            <a:extLst>
              <a:ext uri="{FF2B5EF4-FFF2-40B4-BE49-F238E27FC236}">
                <a16:creationId xmlns:a16="http://schemas.microsoft.com/office/drawing/2014/main" id="{E26B6C6C-A8BC-D391-820D-41A8F729D3E7}"/>
              </a:ext>
            </a:extLst>
          </p:cNvPr>
          <p:cNvSpPr/>
          <p:nvPr/>
        </p:nvSpPr>
        <p:spPr>
          <a:xfrm>
            <a:off x="837724" y="4755475"/>
            <a:ext cx="6357818" cy="1595438"/>
          </a:xfrm>
          <a:prstGeom prst="roundRect">
            <a:avLst>
              <a:gd name="adj" fmla="val 9170"/>
            </a:avLst>
          </a:prstGeom>
          <a:solidFill>
            <a:srgbClr val="112836"/>
          </a:solidFill>
          <a:ln w="30480">
            <a:solidFill>
              <a:srgbClr val="49606E"/>
            </a:solidFill>
            <a:prstDash val="solid"/>
          </a:ln>
        </p:spPr>
        <p:txBody>
          <a:bodyPr/>
          <a:lstStyle/>
          <a:p>
            <a:endParaRPr lang="en-IN" sz="2500" b="1">
              <a:solidFill>
                <a:schemeClr val="bg1"/>
              </a:solidFill>
              <a:latin typeface="Times New Roman" panose="02020603050405020304" pitchFamily="18" charset="0"/>
              <a:cs typeface="Times New Roman" panose="02020603050405020304" pitchFamily="18" charset="0"/>
            </a:endParaRPr>
          </a:p>
        </p:txBody>
      </p:sp>
      <p:sp>
        <p:nvSpPr>
          <p:cNvPr id="10" name="Shape 8">
            <a:extLst>
              <a:ext uri="{FF2B5EF4-FFF2-40B4-BE49-F238E27FC236}">
                <a16:creationId xmlns:a16="http://schemas.microsoft.com/office/drawing/2014/main" id="{58FC7CBE-AD1F-3438-7376-1A9E6D2F77A9}"/>
              </a:ext>
            </a:extLst>
          </p:cNvPr>
          <p:cNvSpPr/>
          <p:nvPr/>
        </p:nvSpPr>
        <p:spPr>
          <a:xfrm>
            <a:off x="807244" y="4755475"/>
            <a:ext cx="121920" cy="1595438"/>
          </a:xfrm>
          <a:prstGeom prst="roundRect">
            <a:avLst>
              <a:gd name="adj" fmla="val 29451"/>
            </a:avLst>
          </a:prstGeom>
          <a:solidFill>
            <a:srgbClr val="0A988B"/>
          </a:solidFill>
          <a:ln/>
        </p:spPr>
        <p:txBody>
          <a:bodyPr/>
          <a:lstStyle/>
          <a:p>
            <a:endParaRPr lang="en-IN" sz="2500" b="1">
              <a:solidFill>
                <a:schemeClr val="bg1"/>
              </a:solidFill>
              <a:latin typeface="Times New Roman" panose="02020603050405020304" pitchFamily="18" charset="0"/>
              <a:cs typeface="Times New Roman" panose="02020603050405020304" pitchFamily="18" charset="0"/>
            </a:endParaRPr>
          </a:p>
        </p:txBody>
      </p:sp>
      <p:sp>
        <p:nvSpPr>
          <p:cNvPr id="11" name="Text 9">
            <a:extLst>
              <a:ext uri="{FF2B5EF4-FFF2-40B4-BE49-F238E27FC236}">
                <a16:creationId xmlns:a16="http://schemas.microsoft.com/office/drawing/2014/main" id="{EF638985-608C-723C-F881-240A2F29ED28}"/>
              </a:ext>
            </a:extLst>
          </p:cNvPr>
          <p:cNvSpPr/>
          <p:nvPr/>
        </p:nvSpPr>
        <p:spPr>
          <a:xfrm>
            <a:off x="1198958" y="5201245"/>
            <a:ext cx="5726787" cy="703898"/>
          </a:xfrm>
          <a:prstGeom prst="rect">
            <a:avLst/>
          </a:prstGeom>
          <a:noFill/>
          <a:ln/>
        </p:spPr>
        <p:txBody>
          <a:bodyPr wrap="square" lIns="0" tIns="0" rIns="0" bIns="0" rtlCol="0" anchor="t"/>
          <a:lstStyle/>
          <a:p>
            <a:pPr marL="342900" indent="-342900">
              <a:lnSpc>
                <a:spcPts val="3000"/>
              </a:lnSpc>
              <a:buSzPct val="100000"/>
              <a:buChar char="•"/>
            </a:pPr>
            <a:r>
              <a:rPr lang="en-US" sz="2500" b="1" dirty="0">
                <a:solidFill>
                  <a:schemeClr val="bg1"/>
                </a:solidFill>
                <a:latin typeface="Times New Roman" panose="02020603050405020304" pitchFamily="18" charset="0"/>
                <a:ea typeface="Cabin" pitchFamily="34" charset="-122"/>
                <a:cs typeface="Times New Roman" panose="02020603050405020304" pitchFamily="18" charset="0"/>
              </a:rPr>
              <a:t>It converts unstructured reports into structured medical data.</a:t>
            </a:r>
          </a:p>
        </p:txBody>
      </p:sp>
      <p:sp>
        <p:nvSpPr>
          <p:cNvPr id="12" name="Shape 10">
            <a:extLst>
              <a:ext uri="{FF2B5EF4-FFF2-40B4-BE49-F238E27FC236}">
                <a16:creationId xmlns:a16="http://schemas.microsoft.com/office/drawing/2014/main" id="{9462F1E5-2E90-FF84-48C6-7ED100A15950}"/>
              </a:ext>
            </a:extLst>
          </p:cNvPr>
          <p:cNvSpPr/>
          <p:nvPr/>
        </p:nvSpPr>
        <p:spPr>
          <a:xfrm>
            <a:off x="7434858" y="4755475"/>
            <a:ext cx="6357818" cy="1595438"/>
          </a:xfrm>
          <a:prstGeom prst="roundRect">
            <a:avLst>
              <a:gd name="adj" fmla="val 9170"/>
            </a:avLst>
          </a:prstGeom>
          <a:solidFill>
            <a:srgbClr val="112836"/>
          </a:solidFill>
          <a:ln w="30480">
            <a:solidFill>
              <a:srgbClr val="49606E"/>
            </a:solidFill>
            <a:prstDash val="solid"/>
          </a:ln>
        </p:spPr>
        <p:txBody>
          <a:bodyPr/>
          <a:lstStyle/>
          <a:p>
            <a:endParaRPr lang="en-IN" sz="2500" b="1">
              <a:solidFill>
                <a:schemeClr val="bg1"/>
              </a:solidFill>
              <a:latin typeface="Times New Roman" panose="02020603050405020304" pitchFamily="18" charset="0"/>
              <a:cs typeface="Times New Roman" panose="02020603050405020304" pitchFamily="18" charset="0"/>
            </a:endParaRPr>
          </a:p>
        </p:txBody>
      </p:sp>
      <p:sp>
        <p:nvSpPr>
          <p:cNvPr id="13" name="Shape 11">
            <a:extLst>
              <a:ext uri="{FF2B5EF4-FFF2-40B4-BE49-F238E27FC236}">
                <a16:creationId xmlns:a16="http://schemas.microsoft.com/office/drawing/2014/main" id="{3A4329D5-9CA0-DC9B-7967-29B646136690}"/>
              </a:ext>
            </a:extLst>
          </p:cNvPr>
          <p:cNvSpPr/>
          <p:nvPr/>
        </p:nvSpPr>
        <p:spPr>
          <a:xfrm>
            <a:off x="7404378" y="4755475"/>
            <a:ext cx="121920" cy="1595438"/>
          </a:xfrm>
          <a:prstGeom prst="roundRect">
            <a:avLst>
              <a:gd name="adj" fmla="val 29451"/>
            </a:avLst>
          </a:prstGeom>
          <a:solidFill>
            <a:srgbClr val="0A988B"/>
          </a:solidFill>
          <a:ln/>
        </p:spPr>
        <p:txBody>
          <a:bodyPr/>
          <a:lstStyle/>
          <a:p>
            <a:endParaRPr lang="en-IN" sz="2500" b="1">
              <a:solidFill>
                <a:schemeClr val="bg1"/>
              </a:solidFill>
              <a:latin typeface="Times New Roman" panose="02020603050405020304" pitchFamily="18" charset="0"/>
              <a:cs typeface="Times New Roman" panose="02020603050405020304" pitchFamily="18" charset="0"/>
            </a:endParaRPr>
          </a:p>
        </p:txBody>
      </p:sp>
      <p:sp>
        <p:nvSpPr>
          <p:cNvPr id="14" name="Text 12">
            <a:extLst>
              <a:ext uri="{FF2B5EF4-FFF2-40B4-BE49-F238E27FC236}">
                <a16:creationId xmlns:a16="http://schemas.microsoft.com/office/drawing/2014/main" id="{BAF7F9F2-37F2-4777-288F-6AA5108CA55F}"/>
              </a:ext>
            </a:extLst>
          </p:cNvPr>
          <p:cNvSpPr/>
          <p:nvPr/>
        </p:nvSpPr>
        <p:spPr>
          <a:xfrm>
            <a:off x="7796093" y="5025271"/>
            <a:ext cx="5726787" cy="1055846"/>
          </a:xfrm>
          <a:prstGeom prst="rect">
            <a:avLst/>
          </a:prstGeom>
          <a:noFill/>
          <a:ln/>
        </p:spPr>
        <p:txBody>
          <a:bodyPr wrap="square" lIns="0" tIns="0" rIns="0" bIns="0" rtlCol="0" anchor="t"/>
          <a:lstStyle/>
          <a:p>
            <a:pPr marL="342900" indent="-342900">
              <a:lnSpc>
                <a:spcPts val="3000"/>
              </a:lnSpc>
              <a:buSzPct val="100000"/>
              <a:buChar char="•"/>
            </a:pPr>
            <a:r>
              <a:rPr lang="en-US" sz="2500" b="1" dirty="0">
                <a:solidFill>
                  <a:schemeClr val="bg1"/>
                </a:solidFill>
                <a:latin typeface="Times New Roman" panose="02020603050405020304" pitchFamily="18" charset="0"/>
                <a:ea typeface="Cabin" pitchFamily="34" charset="-122"/>
                <a:cs typeface="Times New Roman" panose="02020603050405020304" pitchFamily="18" charset="0"/>
              </a:rPr>
              <a:t>It applies analytical and predictive models to generate actionable health insights.</a:t>
            </a:r>
            <a:endParaRPr lang="en-US" sz="2500" b="1" dirty="0">
              <a:solidFill>
                <a:schemeClr val="bg1"/>
              </a:solidFill>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0AEC0DCC-BE11-6789-C9A4-3268D6B79169}"/>
              </a:ext>
            </a:extLst>
          </p:cNvPr>
          <p:cNvPicPr>
            <a:picLocks noChangeAspect="1"/>
          </p:cNvPicPr>
          <p:nvPr/>
        </p:nvPicPr>
        <p:blipFill>
          <a:blip r:embed="rId4"/>
          <a:stretch>
            <a:fillRect/>
          </a:stretch>
        </p:blipFill>
        <p:spPr>
          <a:xfrm>
            <a:off x="12446013" y="7704283"/>
            <a:ext cx="2072875" cy="525317"/>
          </a:xfrm>
          <a:prstGeom prst="rect">
            <a:avLst/>
          </a:prstGeom>
        </p:spPr>
      </p:pic>
    </p:spTree>
    <p:extLst>
      <p:ext uri="{BB962C8B-B14F-4D97-AF65-F5344CB8AC3E}">
        <p14:creationId xmlns:p14="http://schemas.microsoft.com/office/powerpoint/2010/main" val="3962164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27CA06FA-7014-525A-E958-192CA4693407}"/>
              </a:ext>
            </a:extLst>
          </p:cNvPr>
          <p:cNvPicPr>
            <a:picLocks noChangeAspect="1"/>
          </p:cNvPicPr>
          <p:nvPr/>
        </p:nvPicPr>
        <p:blipFill>
          <a:blip r:embed="rId3">
            <a:alphaModFix amt="15000"/>
          </a:blip>
          <a:stretch>
            <a:fillRect/>
          </a:stretch>
        </p:blipFill>
        <p:spPr>
          <a:xfrm>
            <a:off x="-259826" y="-21589"/>
            <a:ext cx="15149198" cy="8268937"/>
          </a:xfrm>
          <a:prstGeom prst="rect">
            <a:avLst/>
          </a:prstGeom>
        </p:spPr>
      </p:pic>
      <p:sp>
        <p:nvSpPr>
          <p:cNvPr id="2" name="Text 0"/>
          <p:cNvSpPr/>
          <p:nvPr/>
        </p:nvSpPr>
        <p:spPr>
          <a:xfrm>
            <a:off x="729853" y="1056729"/>
            <a:ext cx="4505920" cy="563285"/>
          </a:xfrm>
          <a:prstGeom prst="rect">
            <a:avLst/>
          </a:prstGeom>
          <a:noFill/>
          <a:ln/>
        </p:spPr>
        <p:txBody>
          <a:bodyPr wrap="none" lIns="0" tIns="0" rIns="0" bIns="0" rtlCol="0" anchor="t"/>
          <a:lstStyle/>
          <a:p>
            <a:pPr marL="0" indent="0" algn="l">
              <a:lnSpc>
                <a:spcPts val="4400"/>
              </a:lnSpc>
              <a:buNone/>
            </a:pPr>
            <a:r>
              <a:rPr lang="en-US" sz="4700" b="1" dirty="0">
                <a:solidFill>
                  <a:schemeClr val="bg2"/>
                </a:solidFill>
                <a:latin typeface="Times New Roman" panose="02020603050405020304" pitchFamily="18" charset="0"/>
                <a:ea typeface="Unbounded" pitchFamily="34" charset="-122"/>
                <a:cs typeface="Times New Roman" panose="02020603050405020304" pitchFamily="18" charset="0"/>
              </a:rPr>
              <a:t>Objectives</a:t>
            </a:r>
            <a:endParaRPr lang="en-US" sz="4700" b="1" dirty="0">
              <a:solidFill>
                <a:schemeClr val="bg2"/>
              </a:solidFill>
              <a:latin typeface="Times New Roman" panose="02020603050405020304" pitchFamily="18" charset="0"/>
              <a:cs typeface="Times New Roman" panose="02020603050405020304" pitchFamily="18" charset="0"/>
            </a:endParaRPr>
          </a:p>
        </p:txBody>
      </p:sp>
      <p:sp>
        <p:nvSpPr>
          <p:cNvPr id="3" name="Text 1"/>
          <p:cNvSpPr/>
          <p:nvPr/>
        </p:nvSpPr>
        <p:spPr>
          <a:xfrm>
            <a:off x="729853" y="2098764"/>
            <a:ext cx="239316" cy="299204"/>
          </a:xfrm>
          <a:prstGeom prst="rect">
            <a:avLst/>
          </a:prstGeom>
          <a:noFill/>
          <a:ln/>
        </p:spPr>
        <p:txBody>
          <a:bodyPr wrap="none" lIns="0" tIns="0" rIns="0" bIns="0" rtlCol="0" anchor="t"/>
          <a:lstStyle/>
          <a:p>
            <a:pPr marL="0" indent="0" algn="l">
              <a:lnSpc>
                <a:spcPts val="3000"/>
              </a:lnSpc>
              <a:buNone/>
            </a:pPr>
            <a:r>
              <a:rPr lang="en-US" sz="2500" b="1" dirty="0">
                <a:solidFill>
                  <a:schemeClr val="bg2"/>
                </a:solidFill>
                <a:latin typeface="Times New Roman" panose="02020603050405020304" pitchFamily="18" charset="0"/>
                <a:ea typeface="Unbounded Light" pitchFamily="34" charset="-122"/>
                <a:cs typeface="Times New Roman" panose="02020603050405020304" pitchFamily="18" charset="0"/>
              </a:rPr>
              <a:t>01</a:t>
            </a:r>
            <a:endParaRPr lang="en-US" sz="2500" b="1" dirty="0">
              <a:solidFill>
                <a:schemeClr val="bg2"/>
              </a:solidFill>
              <a:latin typeface="Times New Roman" panose="02020603050405020304" pitchFamily="18" charset="0"/>
              <a:cs typeface="Times New Roman" panose="02020603050405020304" pitchFamily="18" charset="0"/>
            </a:endParaRPr>
          </a:p>
        </p:txBody>
      </p:sp>
      <p:sp>
        <p:nvSpPr>
          <p:cNvPr id="4" name="Shape 2"/>
          <p:cNvSpPr/>
          <p:nvPr/>
        </p:nvSpPr>
        <p:spPr>
          <a:xfrm>
            <a:off x="729853" y="2475120"/>
            <a:ext cx="4158734" cy="30480"/>
          </a:xfrm>
          <a:prstGeom prst="rect">
            <a:avLst/>
          </a:prstGeom>
          <a:solidFill>
            <a:srgbClr val="0A988B"/>
          </a:solidFill>
          <a:ln/>
        </p:spPr>
        <p:txBody>
          <a:bodyPr/>
          <a:lstStyle/>
          <a:p>
            <a:endParaRPr lang="en-IN" sz="2500" b="1">
              <a:solidFill>
                <a:schemeClr val="bg2"/>
              </a:solidFill>
              <a:latin typeface="Times New Roman" panose="02020603050405020304" pitchFamily="18" charset="0"/>
              <a:cs typeface="Times New Roman" panose="02020603050405020304" pitchFamily="18" charset="0"/>
            </a:endParaRPr>
          </a:p>
        </p:txBody>
      </p:sp>
      <p:sp>
        <p:nvSpPr>
          <p:cNvPr id="5" name="Text 3"/>
          <p:cNvSpPr/>
          <p:nvPr/>
        </p:nvSpPr>
        <p:spPr>
          <a:xfrm>
            <a:off x="729853" y="2655738"/>
            <a:ext cx="4158734" cy="1407795"/>
          </a:xfrm>
          <a:prstGeom prst="rect">
            <a:avLst/>
          </a:prstGeom>
          <a:noFill/>
          <a:ln/>
        </p:spPr>
        <p:txBody>
          <a:bodyPr wrap="square" lIns="0" tIns="0" rIns="0" bIns="0" rtlCol="0" anchor="t"/>
          <a:lstStyle/>
          <a:p>
            <a:pPr>
              <a:lnSpc>
                <a:spcPts val="2750"/>
              </a:lnSpc>
            </a:pPr>
            <a:r>
              <a:rPr lang="en-US" sz="2500" b="1" dirty="0">
                <a:solidFill>
                  <a:schemeClr val="bg2"/>
                </a:solidFill>
                <a:latin typeface="Times New Roman" panose="02020603050405020304" pitchFamily="18" charset="0"/>
                <a:cs typeface="Times New Roman" panose="02020603050405020304" pitchFamily="18" charset="0"/>
              </a:rPr>
              <a:t>To develop a patient-centric platform for securely storing and managing medical records from multiple healthcare providers.</a:t>
            </a:r>
          </a:p>
        </p:txBody>
      </p:sp>
      <p:sp>
        <p:nvSpPr>
          <p:cNvPr id="6" name="Text 4"/>
          <p:cNvSpPr/>
          <p:nvPr/>
        </p:nvSpPr>
        <p:spPr>
          <a:xfrm>
            <a:off x="5127902" y="2098764"/>
            <a:ext cx="239316" cy="299204"/>
          </a:xfrm>
          <a:prstGeom prst="rect">
            <a:avLst/>
          </a:prstGeom>
          <a:noFill/>
          <a:ln/>
        </p:spPr>
        <p:txBody>
          <a:bodyPr wrap="none" lIns="0" tIns="0" rIns="0" bIns="0" rtlCol="0" anchor="t"/>
          <a:lstStyle/>
          <a:p>
            <a:pPr marL="0" indent="0" algn="l">
              <a:lnSpc>
                <a:spcPts val="3000"/>
              </a:lnSpc>
              <a:buNone/>
            </a:pPr>
            <a:r>
              <a:rPr lang="en-US" sz="2500" b="1" dirty="0">
                <a:solidFill>
                  <a:schemeClr val="bg2"/>
                </a:solidFill>
                <a:latin typeface="Times New Roman" panose="02020603050405020304" pitchFamily="18" charset="0"/>
                <a:ea typeface="Unbounded Light" pitchFamily="34" charset="-122"/>
                <a:cs typeface="Times New Roman" panose="02020603050405020304" pitchFamily="18" charset="0"/>
              </a:rPr>
              <a:t>02</a:t>
            </a:r>
            <a:endParaRPr lang="en-US" sz="2500" b="1" dirty="0">
              <a:solidFill>
                <a:schemeClr val="bg2"/>
              </a:solidFill>
              <a:latin typeface="Times New Roman" panose="02020603050405020304" pitchFamily="18" charset="0"/>
              <a:cs typeface="Times New Roman" panose="02020603050405020304" pitchFamily="18" charset="0"/>
            </a:endParaRPr>
          </a:p>
        </p:txBody>
      </p:sp>
      <p:sp>
        <p:nvSpPr>
          <p:cNvPr id="7" name="Shape 5"/>
          <p:cNvSpPr/>
          <p:nvPr/>
        </p:nvSpPr>
        <p:spPr>
          <a:xfrm>
            <a:off x="5127902" y="2475120"/>
            <a:ext cx="4158734" cy="30480"/>
          </a:xfrm>
          <a:prstGeom prst="rect">
            <a:avLst/>
          </a:prstGeom>
          <a:solidFill>
            <a:srgbClr val="0A988B"/>
          </a:solidFill>
          <a:ln/>
        </p:spPr>
        <p:txBody>
          <a:bodyPr/>
          <a:lstStyle/>
          <a:p>
            <a:endParaRPr lang="en-IN" sz="2500" b="1">
              <a:solidFill>
                <a:schemeClr val="bg2"/>
              </a:solidFill>
              <a:latin typeface="Times New Roman" panose="02020603050405020304" pitchFamily="18" charset="0"/>
              <a:cs typeface="Times New Roman" panose="02020603050405020304" pitchFamily="18" charset="0"/>
            </a:endParaRPr>
          </a:p>
        </p:txBody>
      </p:sp>
      <p:sp>
        <p:nvSpPr>
          <p:cNvPr id="8" name="Text 6"/>
          <p:cNvSpPr/>
          <p:nvPr/>
        </p:nvSpPr>
        <p:spPr>
          <a:xfrm>
            <a:off x="5127902" y="2655738"/>
            <a:ext cx="4158734" cy="1759744"/>
          </a:xfrm>
          <a:prstGeom prst="rect">
            <a:avLst/>
          </a:prstGeom>
          <a:noFill/>
          <a:ln/>
        </p:spPr>
        <p:txBody>
          <a:bodyPr wrap="square" lIns="0" tIns="0" rIns="0" bIns="0" rtlCol="0" anchor="t"/>
          <a:lstStyle/>
          <a:p>
            <a:pPr>
              <a:lnSpc>
                <a:spcPts val="2750"/>
              </a:lnSpc>
            </a:pPr>
            <a:r>
              <a:rPr lang="en-US" sz="2500" b="1" dirty="0">
                <a:solidFill>
                  <a:schemeClr val="bg2"/>
                </a:solidFill>
                <a:latin typeface="Times New Roman" panose="02020603050405020304" pitchFamily="18" charset="0"/>
                <a:cs typeface="Times New Roman" panose="02020603050405020304" pitchFamily="18" charset="0"/>
              </a:rPr>
              <a:t>To extract, organize, and standardize data from reports, prescriptions, and diagnostic documents into a unified format.</a:t>
            </a:r>
          </a:p>
        </p:txBody>
      </p:sp>
      <p:sp>
        <p:nvSpPr>
          <p:cNvPr id="9" name="Text 7"/>
          <p:cNvSpPr/>
          <p:nvPr/>
        </p:nvSpPr>
        <p:spPr>
          <a:xfrm>
            <a:off x="9525952" y="2098764"/>
            <a:ext cx="239316" cy="299204"/>
          </a:xfrm>
          <a:prstGeom prst="rect">
            <a:avLst/>
          </a:prstGeom>
          <a:noFill/>
          <a:ln/>
        </p:spPr>
        <p:txBody>
          <a:bodyPr wrap="none" lIns="0" tIns="0" rIns="0" bIns="0" rtlCol="0" anchor="t"/>
          <a:lstStyle/>
          <a:p>
            <a:pPr marL="0" indent="0" algn="l">
              <a:lnSpc>
                <a:spcPts val="3000"/>
              </a:lnSpc>
              <a:buNone/>
            </a:pPr>
            <a:r>
              <a:rPr lang="en-US" sz="2500" b="1" dirty="0">
                <a:solidFill>
                  <a:schemeClr val="bg2"/>
                </a:solidFill>
                <a:latin typeface="Times New Roman" panose="02020603050405020304" pitchFamily="18" charset="0"/>
                <a:ea typeface="Unbounded Light" pitchFamily="34" charset="-122"/>
                <a:cs typeface="Times New Roman" panose="02020603050405020304" pitchFamily="18" charset="0"/>
              </a:rPr>
              <a:t>03</a:t>
            </a:r>
            <a:endParaRPr lang="en-US" sz="2500" b="1" dirty="0">
              <a:solidFill>
                <a:schemeClr val="bg2"/>
              </a:solidFill>
              <a:latin typeface="Times New Roman" panose="02020603050405020304" pitchFamily="18" charset="0"/>
              <a:cs typeface="Times New Roman" panose="02020603050405020304" pitchFamily="18" charset="0"/>
            </a:endParaRPr>
          </a:p>
        </p:txBody>
      </p:sp>
      <p:sp>
        <p:nvSpPr>
          <p:cNvPr id="10" name="Shape 8"/>
          <p:cNvSpPr/>
          <p:nvPr/>
        </p:nvSpPr>
        <p:spPr>
          <a:xfrm>
            <a:off x="9525952" y="2475120"/>
            <a:ext cx="4158853" cy="30480"/>
          </a:xfrm>
          <a:prstGeom prst="rect">
            <a:avLst/>
          </a:prstGeom>
          <a:solidFill>
            <a:srgbClr val="0A988B"/>
          </a:solidFill>
          <a:ln/>
        </p:spPr>
        <p:txBody>
          <a:bodyPr/>
          <a:lstStyle/>
          <a:p>
            <a:endParaRPr lang="en-IN" sz="2500" b="1">
              <a:solidFill>
                <a:schemeClr val="bg2"/>
              </a:solidFill>
              <a:latin typeface="Times New Roman" panose="02020603050405020304" pitchFamily="18" charset="0"/>
              <a:cs typeface="Times New Roman" panose="02020603050405020304" pitchFamily="18" charset="0"/>
            </a:endParaRPr>
          </a:p>
        </p:txBody>
      </p:sp>
      <p:sp>
        <p:nvSpPr>
          <p:cNvPr id="11" name="Text 9"/>
          <p:cNvSpPr/>
          <p:nvPr/>
        </p:nvSpPr>
        <p:spPr>
          <a:xfrm>
            <a:off x="9525952" y="2655738"/>
            <a:ext cx="4158853" cy="1055846"/>
          </a:xfrm>
          <a:prstGeom prst="rect">
            <a:avLst/>
          </a:prstGeom>
          <a:noFill/>
          <a:ln/>
        </p:spPr>
        <p:txBody>
          <a:bodyPr wrap="square" lIns="0" tIns="0" rIns="0" bIns="0" rtlCol="0" anchor="t"/>
          <a:lstStyle/>
          <a:p>
            <a:pPr marL="0" indent="0" algn="l">
              <a:lnSpc>
                <a:spcPts val="2750"/>
              </a:lnSpc>
              <a:buNone/>
            </a:pPr>
            <a:endParaRPr lang="en-US" sz="2500" b="1" dirty="0">
              <a:solidFill>
                <a:schemeClr val="bg2"/>
              </a:solidFill>
              <a:latin typeface="Times New Roman" panose="02020603050405020304" pitchFamily="18" charset="0"/>
              <a:cs typeface="Times New Roman" panose="02020603050405020304" pitchFamily="18" charset="0"/>
            </a:endParaRPr>
          </a:p>
        </p:txBody>
      </p:sp>
      <p:sp>
        <p:nvSpPr>
          <p:cNvPr id="12" name="Text 10"/>
          <p:cNvSpPr/>
          <p:nvPr/>
        </p:nvSpPr>
        <p:spPr>
          <a:xfrm>
            <a:off x="3048536" y="4894257"/>
            <a:ext cx="239316" cy="299204"/>
          </a:xfrm>
          <a:prstGeom prst="rect">
            <a:avLst/>
          </a:prstGeom>
          <a:noFill/>
          <a:ln/>
        </p:spPr>
        <p:txBody>
          <a:bodyPr wrap="none" lIns="0" tIns="0" rIns="0" bIns="0" rtlCol="0" anchor="t"/>
          <a:lstStyle/>
          <a:p>
            <a:pPr marL="0" indent="0" algn="l">
              <a:lnSpc>
                <a:spcPts val="3000"/>
              </a:lnSpc>
              <a:buNone/>
            </a:pPr>
            <a:r>
              <a:rPr lang="en-US" sz="2500" b="1" dirty="0">
                <a:solidFill>
                  <a:schemeClr val="bg2"/>
                </a:solidFill>
                <a:latin typeface="Times New Roman" panose="02020603050405020304" pitchFamily="18" charset="0"/>
                <a:ea typeface="Unbounded Light" pitchFamily="34" charset="-122"/>
                <a:cs typeface="Times New Roman" panose="02020603050405020304" pitchFamily="18" charset="0"/>
              </a:rPr>
              <a:t>04</a:t>
            </a:r>
            <a:endParaRPr lang="en-US" sz="2500" b="1" dirty="0">
              <a:solidFill>
                <a:schemeClr val="bg2"/>
              </a:solidFill>
              <a:latin typeface="Times New Roman" panose="02020603050405020304" pitchFamily="18" charset="0"/>
              <a:cs typeface="Times New Roman" panose="02020603050405020304" pitchFamily="18" charset="0"/>
            </a:endParaRPr>
          </a:p>
        </p:txBody>
      </p:sp>
      <p:sp>
        <p:nvSpPr>
          <p:cNvPr id="13" name="Shape 11"/>
          <p:cNvSpPr/>
          <p:nvPr/>
        </p:nvSpPr>
        <p:spPr>
          <a:xfrm>
            <a:off x="3048536" y="5270614"/>
            <a:ext cx="4158000" cy="30480"/>
          </a:xfrm>
          <a:prstGeom prst="rect">
            <a:avLst/>
          </a:prstGeom>
          <a:solidFill>
            <a:srgbClr val="0A988B"/>
          </a:solidFill>
          <a:ln/>
        </p:spPr>
        <p:txBody>
          <a:bodyPr/>
          <a:lstStyle/>
          <a:p>
            <a:endParaRPr lang="en-IN" sz="2500" b="1">
              <a:solidFill>
                <a:schemeClr val="bg2"/>
              </a:solidFill>
              <a:latin typeface="Times New Roman" panose="02020603050405020304" pitchFamily="18" charset="0"/>
              <a:cs typeface="Times New Roman" panose="02020603050405020304" pitchFamily="18" charset="0"/>
            </a:endParaRPr>
          </a:p>
        </p:txBody>
      </p:sp>
      <p:sp>
        <p:nvSpPr>
          <p:cNvPr id="14" name="Text 12"/>
          <p:cNvSpPr/>
          <p:nvPr/>
        </p:nvSpPr>
        <p:spPr>
          <a:xfrm>
            <a:off x="3048536" y="5451232"/>
            <a:ext cx="4158000" cy="1863910"/>
          </a:xfrm>
          <a:prstGeom prst="rect">
            <a:avLst/>
          </a:prstGeom>
          <a:noFill/>
          <a:ln/>
        </p:spPr>
        <p:txBody>
          <a:bodyPr wrap="square" lIns="0" tIns="0" rIns="0" bIns="0" rtlCol="0" anchor="t"/>
          <a:lstStyle/>
          <a:p>
            <a:r>
              <a:rPr lang="en-US" sz="2500" b="1" dirty="0">
                <a:solidFill>
                  <a:schemeClr val="bg1"/>
                </a:solidFill>
                <a:latin typeface="Times New Roman" panose="02020603050405020304" pitchFamily="18" charset="0"/>
                <a:cs typeface="Times New Roman" panose="02020603050405020304" pitchFamily="18" charset="0"/>
              </a:rPr>
              <a:t>To provide an intuitive interface for patients and authorized providers to access and interpret medical data and analytical results.</a:t>
            </a:r>
          </a:p>
        </p:txBody>
      </p:sp>
      <p:sp>
        <p:nvSpPr>
          <p:cNvPr id="15" name="Text 13"/>
          <p:cNvSpPr/>
          <p:nvPr/>
        </p:nvSpPr>
        <p:spPr>
          <a:xfrm>
            <a:off x="7446585" y="4912949"/>
            <a:ext cx="239316" cy="299204"/>
          </a:xfrm>
          <a:prstGeom prst="rect">
            <a:avLst/>
          </a:prstGeom>
          <a:noFill/>
          <a:ln/>
        </p:spPr>
        <p:txBody>
          <a:bodyPr wrap="none" lIns="0" tIns="0" rIns="0" bIns="0" rtlCol="0" anchor="t"/>
          <a:lstStyle/>
          <a:p>
            <a:pPr marL="0" indent="0" algn="l">
              <a:lnSpc>
                <a:spcPts val="3000"/>
              </a:lnSpc>
              <a:buNone/>
            </a:pPr>
            <a:r>
              <a:rPr lang="en-US" sz="2500" b="1" dirty="0">
                <a:solidFill>
                  <a:schemeClr val="bg2"/>
                </a:solidFill>
                <a:latin typeface="Times New Roman" panose="02020603050405020304" pitchFamily="18" charset="0"/>
                <a:ea typeface="Unbounded Light" pitchFamily="34" charset="-122"/>
                <a:cs typeface="Times New Roman" panose="02020603050405020304" pitchFamily="18" charset="0"/>
              </a:rPr>
              <a:t>05</a:t>
            </a:r>
            <a:endParaRPr lang="en-US" sz="2500" b="1" dirty="0">
              <a:solidFill>
                <a:schemeClr val="bg2"/>
              </a:solidFill>
              <a:latin typeface="Times New Roman" panose="02020603050405020304" pitchFamily="18" charset="0"/>
              <a:cs typeface="Times New Roman" panose="02020603050405020304" pitchFamily="18" charset="0"/>
            </a:endParaRPr>
          </a:p>
        </p:txBody>
      </p:sp>
      <p:sp>
        <p:nvSpPr>
          <p:cNvPr id="16" name="Shape 14"/>
          <p:cNvSpPr/>
          <p:nvPr/>
        </p:nvSpPr>
        <p:spPr>
          <a:xfrm>
            <a:off x="7446585" y="5289306"/>
            <a:ext cx="4158000" cy="30480"/>
          </a:xfrm>
          <a:prstGeom prst="rect">
            <a:avLst/>
          </a:prstGeom>
          <a:solidFill>
            <a:srgbClr val="0A988B"/>
          </a:solidFill>
          <a:ln/>
        </p:spPr>
        <p:txBody>
          <a:bodyPr/>
          <a:lstStyle/>
          <a:p>
            <a:endParaRPr lang="en-IN" sz="2500" b="1">
              <a:solidFill>
                <a:schemeClr val="bg2"/>
              </a:solidFill>
              <a:latin typeface="Times New Roman" panose="02020603050405020304" pitchFamily="18" charset="0"/>
              <a:cs typeface="Times New Roman" panose="02020603050405020304" pitchFamily="18" charset="0"/>
            </a:endParaRPr>
          </a:p>
        </p:txBody>
      </p:sp>
      <p:sp>
        <p:nvSpPr>
          <p:cNvPr id="17" name="Text 15"/>
          <p:cNvSpPr/>
          <p:nvPr/>
        </p:nvSpPr>
        <p:spPr>
          <a:xfrm>
            <a:off x="7446585" y="5469924"/>
            <a:ext cx="4158734" cy="1893738"/>
          </a:xfrm>
          <a:prstGeom prst="rect">
            <a:avLst/>
          </a:prstGeom>
          <a:noFill/>
          <a:ln/>
        </p:spPr>
        <p:txBody>
          <a:bodyPr wrap="square" lIns="0" tIns="0" rIns="0" bIns="0" rtlCol="0" anchor="t"/>
          <a:lstStyle/>
          <a:p>
            <a:pPr lvl="0" eaLnBrk="0" fontAlgn="base" hangingPunct="0">
              <a:spcBef>
                <a:spcPct val="0"/>
              </a:spcBef>
              <a:spcAft>
                <a:spcPct val="0"/>
              </a:spcAft>
            </a:pPr>
            <a:r>
              <a:rPr lang="en-US" altLang="en-US" sz="2500" b="1" dirty="0">
                <a:solidFill>
                  <a:schemeClr val="bg1"/>
                </a:solidFill>
                <a:latin typeface="Times New Roman" panose="02020603050405020304" pitchFamily="18" charset="0"/>
                <a:cs typeface="Times New Roman" panose="02020603050405020304" pitchFamily="18" charset="0"/>
              </a:rPr>
              <a:t>To ensure data privacy, security, and controlled access through authentication and authorization.</a:t>
            </a:r>
          </a:p>
          <a:p>
            <a:pPr lvl="0" eaLnBrk="0" fontAlgn="base" hangingPunct="0">
              <a:spcBef>
                <a:spcPct val="0"/>
              </a:spcBef>
              <a:spcAft>
                <a:spcPct val="0"/>
              </a:spcAft>
              <a:buFontTx/>
              <a:buChar char="•"/>
            </a:pPr>
            <a:endParaRPr lang="en-US" altLang="en-US" sz="2500" b="1" dirty="0">
              <a:solidFill>
                <a:schemeClr val="bg1"/>
              </a:solidFill>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9F4656C7-2B66-9396-B0FE-A00CDD7D8C7B}"/>
              </a:ext>
            </a:extLst>
          </p:cNvPr>
          <p:cNvPicPr>
            <a:picLocks noChangeAspect="1"/>
          </p:cNvPicPr>
          <p:nvPr/>
        </p:nvPicPr>
        <p:blipFill>
          <a:blip r:embed="rId4"/>
          <a:stretch>
            <a:fillRect/>
          </a:stretch>
        </p:blipFill>
        <p:spPr>
          <a:xfrm>
            <a:off x="12557525" y="7674421"/>
            <a:ext cx="2072875" cy="525317"/>
          </a:xfrm>
          <a:prstGeom prst="rect">
            <a:avLst/>
          </a:prstGeom>
        </p:spPr>
      </p:pic>
      <p:sp>
        <p:nvSpPr>
          <p:cNvPr id="24" name="TextBox 23">
            <a:extLst>
              <a:ext uri="{FF2B5EF4-FFF2-40B4-BE49-F238E27FC236}">
                <a16:creationId xmlns:a16="http://schemas.microsoft.com/office/drawing/2014/main" id="{90DA2FC1-817F-626D-2EA9-071A5E6C148F}"/>
              </a:ext>
            </a:extLst>
          </p:cNvPr>
          <p:cNvSpPr txBox="1"/>
          <p:nvPr/>
        </p:nvSpPr>
        <p:spPr>
          <a:xfrm>
            <a:off x="9525952" y="2655738"/>
            <a:ext cx="3926060" cy="2015936"/>
          </a:xfrm>
          <a:prstGeom prst="rect">
            <a:avLst/>
          </a:prstGeom>
          <a:noFill/>
        </p:spPr>
        <p:txBody>
          <a:bodyPr wrap="square" rtlCol="0">
            <a:spAutoFit/>
          </a:bodyPr>
          <a:lstStyle/>
          <a:p>
            <a:pPr lvl="0" eaLnBrk="0" fontAlgn="base" hangingPunct="0">
              <a:spcBef>
                <a:spcPct val="0"/>
              </a:spcBef>
              <a:spcAft>
                <a:spcPct val="0"/>
              </a:spcAft>
            </a:pPr>
            <a:r>
              <a:rPr lang="en-US" altLang="en-US" sz="2500" b="1" dirty="0">
                <a:solidFill>
                  <a:schemeClr val="bg2"/>
                </a:solidFill>
                <a:latin typeface="Times New Roman" panose="02020603050405020304" pitchFamily="18" charset="0"/>
                <a:cs typeface="Times New Roman" panose="02020603050405020304" pitchFamily="18" charset="0"/>
              </a:rPr>
              <a:t>To apply data analytics to track health trends and generate personalized health insights.</a:t>
            </a:r>
          </a:p>
          <a:p>
            <a:endParaRPr lang="en-IN" sz="2500" b="1" dirty="0">
              <a:solidFill>
                <a:schemeClr val="bg2"/>
              </a:solidFill>
              <a:latin typeface="Times New Roman" panose="02020603050405020304" pitchFamily="18" charset="0"/>
              <a:cs typeface="Times New Roman" panose="02020603050405020304" pitchFamily="18" charset="0"/>
            </a:endParaRPr>
          </a:p>
        </p:txBody>
      </p:sp>
      <p:sp>
        <p:nvSpPr>
          <p:cNvPr id="26" name="Text 10">
            <a:extLst>
              <a:ext uri="{FF2B5EF4-FFF2-40B4-BE49-F238E27FC236}">
                <a16:creationId xmlns:a16="http://schemas.microsoft.com/office/drawing/2014/main" id="{4BBB7AD3-EA79-5882-1027-038F77ED3B92}"/>
              </a:ext>
            </a:extLst>
          </p:cNvPr>
          <p:cNvSpPr/>
          <p:nvPr/>
        </p:nvSpPr>
        <p:spPr>
          <a:xfrm>
            <a:off x="11887269" y="4912949"/>
            <a:ext cx="160658" cy="727108"/>
          </a:xfrm>
          <a:prstGeom prst="rect">
            <a:avLst/>
          </a:prstGeom>
          <a:noFill/>
          <a:ln/>
        </p:spPr>
        <p:txBody>
          <a:bodyPr wrap="none" lIns="0" tIns="0" rIns="0" bIns="0" rtlCol="0" anchor="t"/>
          <a:lstStyle/>
          <a:p>
            <a:pPr marL="0" indent="0" algn="l">
              <a:lnSpc>
                <a:spcPts val="3000"/>
              </a:lnSpc>
              <a:buNone/>
            </a:pPr>
            <a:endParaRPr lang="en-US" sz="2500" b="1" dirty="0">
              <a:solidFill>
                <a:schemeClr val="bg2"/>
              </a:solidFill>
              <a:latin typeface="Times New Roman" panose="02020603050405020304" pitchFamily="18" charset="0"/>
              <a:cs typeface="Times New Roman" panose="02020603050405020304" pitchFamily="18" charset="0"/>
            </a:endParaRPr>
          </a:p>
        </p:txBody>
      </p:sp>
      <p:sp>
        <p:nvSpPr>
          <p:cNvPr id="28" name="Text 12">
            <a:extLst>
              <a:ext uri="{FF2B5EF4-FFF2-40B4-BE49-F238E27FC236}">
                <a16:creationId xmlns:a16="http://schemas.microsoft.com/office/drawing/2014/main" id="{82DE7E4D-85BE-5FC6-4359-9C9C1FD9B549}"/>
              </a:ext>
            </a:extLst>
          </p:cNvPr>
          <p:cNvSpPr/>
          <p:nvPr/>
        </p:nvSpPr>
        <p:spPr>
          <a:xfrm>
            <a:off x="9568586" y="5409891"/>
            <a:ext cx="4466263" cy="1710572"/>
          </a:xfrm>
          <a:prstGeom prst="rect">
            <a:avLst/>
          </a:prstGeom>
          <a:noFill/>
          <a:ln/>
        </p:spPr>
        <p:txBody>
          <a:bodyPr wrap="square" lIns="0" tIns="0" rIns="0" bIns="0" rtlCol="0" anchor="t"/>
          <a:lstStyle/>
          <a:p>
            <a:endParaRPr lang="en-US" sz="2500"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F9DA1-5827-2AE8-1AE4-546AA89D85F0}"/>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DC2CC48B-12C6-6EF8-198D-2D23A5D2F67C}"/>
              </a:ext>
            </a:extLst>
          </p:cNvPr>
          <p:cNvPicPr>
            <a:picLocks noChangeAspect="1"/>
          </p:cNvPicPr>
          <p:nvPr/>
        </p:nvPicPr>
        <p:blipFill>
          <a:blip r:embed="rId3">
            <a:alphaModFix amt="15000"/>
          </a:blip>
          <a:stretch>
            <a:fillRect/>
          </a:stretch>
        </p:blipFill>
        <p:spPr>
          <a:xfrm>
            <a:off x="-259826" y="-21589"/>
            <a:ext cx="15149198" cy="8268937"/>
          </a:xfrm>
          <a:prstGeom prst="rect">
            <a:avLst/>
          </a:prstGeom>
        </p:spPr>
      </p:pic>
      <p:sp>
        <p:nvSpPr>
          <p:cNvPr id="2" name="Text 0">
            <a:extLst>
              <a:ext uri="{FF2B5EF4-FFF2-40B4-BE49-F238E27FC236}">
                <a16:creationId xmlns:a16="http://schemas.microsoft.com/office/drawing/2014/main" id="{EC460FAD-0164-B937-8AC8-09ACF607238F}"/>
              </a:ext>
            </a:extLst>
          </p:cNvPr>
          <p:cNvSpPr/>
          <p:nvPr/>
        </p:nvSpPr>
        <p:spPr>
          <a:xfrm>
            <a:off x="729853" y="1056729"/>
            <a:ext cx="4505920" cy="563285"/>
          </a:xfrm>
          <a:prstGeom prst="rect">
            <a:avLst/>
          </a:prstGeom>
          <a:noFill/>
          <a:ln/>
        </p:spPr>
        <p:txBody>
          <a:bodyPr wrap="none" lIns="0" tIns="0" rIns="0" bIns="0" rtlCol="0" anchor="t"/>
          <a:lstStyle/>
          <a:p>
            <a:pPr lvl="0">
              <a:lnSpc>
                <a:spcPct val="124742"/>
              </a:lnSpc>
              <a:buClr>
                <a:srgbClr val="F5F0F0"/>
              </a:buClr>
              <a:buSzPts val="4850"/>
            </a:pPr>
            <a:endParaRPr lang="en-US" sz="3600" b="1" dirty="0">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20B5AC33-0F42-5C4F-A798-19D2AD718A93}"/>
              </a:ext>
            </a:extLst>
          </p:cNvPr>
          <p:cNvPicPr>
            <a:picLocks noChangeAspect="1"/>
          </p:cNvPicPr>
          <p:nvPr/>
        </p:nvPicPr>
        <p:blipFill>
          <a:blip r:embed="rId4"/>
          <a:stretch>
            <a:fillRect/>
          </a:stretch>
        </p:blipFill>
        <p:spPr>
          <a:xfrm>
            <a:off x="12557525" y="7674421"/>
            <a:ext cx="2072875" cy="525317"/>
          </a:xfrm>
          <a:prstGeom prst="rect">
            <a:avLst/>
          </a:prstGeom>
        </p:spPr>
      </p:pic>
      <p:sp>
        <p:nvSpPr>
          <p:cNvPr id="20" name="Google Shape;104;p5">
            <a:extLst>
              <a:ext uri="{FF2B5EF4-FFF2-40B4-BE49-F238E27FC236}">
                <a16:creationId xmlns:a16="http://schemas.microsoft.com/office/drawing/2014/main" id="{18134B0F-B2FB-83D9-37A2-98D1016ACE50}"/>
              </a:ext>
            </a:extLst>
          </p:cNvPr>
          <p:cNvSpPr/>
          <p:nvPr/>
        </p:nvSpPr>
        <p:spPr>
          <a:xfrm>
            <a:off x="863798" y="886826"/>
            <a:ext cx="11637645" cy="771287"/>
          </a:xfrm>
          <a:prstGeom prst="rect">
            <a:avLst/>
          </a:prstGeom>
          <a:noFill/>
          <a:ln>
            <a:noFill/>
          </a:ln>
        </p:spPr>
        <p:txBody>
          <a:bodyPr spcFirstLastPara="1" wrap="square" lIns="0" tIns="0" rIns="0" bIns="0" anchor="t" anchorCtr="0">
            <a:noAutofit/>
          </a:bodyPr>
          <a:lstStyle/>
          <a:p>
            <a:pPr marL="0" marR="0" lvl="0" indent="0" algn="l" rtl="0">
              <a:lnSpc>
                <a:spcPct val="124742"/>
              </a:lnSpc>
              <a:spcBef>
                <a:spcPts val="0"/>
              </a:spcBef>
              <a:spcAft>
                <a:spcPts val="0"/>
              </a:spcAft>
              <a:buClr>
                <a:srgbClr val="F5F0F0"/>
              </a:buClr>
              <a:buSzPts val="4850"/>
              <a:buFont typeface="Merriweather"/>
              <a:buNone/>
            </a:pPr>
            <a:r>
              <a:rPr lang="en-US" sz="4700" b="1" i="0" u="none" strike="noStrike" cap="none" dirty="0">
                <a:solidFill>
                  <a:srgbClr val="F5F0F0"/>
                </a:solidFill>
                <a:latin typeface="Times New Roman" panose="02020603050405020304" pitchFamily="18" charset="0"/>
                <a:ea typeface="Merriweather"/>
                <a:cs typeface="Times New Roman" panose="02020603050405020304" pitchFamily="18" charset="0"/>
                <a:sym typeface="Merriweather"/>
              </a:rPr>
              <a:t>Primary Research - </a:t>
            </a:r>
            <a:r>
              <a:rPr lang="en-US" sz="4700" b="1" i="0" u="none" strike="noStrike" cap="none" dirty="0">
                <a:solidFill>
                  <a:srgbClr val="609DFF"/>
                </a:solidFill>
                <a:latin typeface="Times New Roman" panose="02020603050405020304" pitchFamily="18" charset="0"/>
                <a:ea typeface="Merriweather"/>
                <a:cs typeface="Times New Roman" panose="02020603050405020304" pitchFamily="18" charset="0"/>
                <a:sym typeface="Merriweather"/>
              </a:rPr>
              <a:t>Existing Platforms</a:t>
            </a:r>
            <a:endParaRPr sz="4700" b="1" i="0" u="none" strike="noStrike" cap="none" dirty="0">
              <a:latin typeface="Times New Roman" panose="02020603050405020304" pitchFamily="18" charset="0"/>
              <a:cs typeface="Times New Roman" panose="02020603050405020304" pitchFamily="18" charset="0"/>
            </a:endParaRPr>
          </a:p>
        </p:txBody>
      </p:sp>
      <p:sp>
        <p:nvSpPr>
          <p:cNvPr id="21" name="Google Shape;105;p5">
            <a:extLst>
              <a:ext uri="{FF2B5EF4-FFF2-40B4-BE49-F238E27FC236}">
                <a16:creationId xmlns:a16="http://schemas.microsoft.com/office/drawing/2014/main" id="{B665D548-B929-29ED-C228-AB04CCCD82BD}"/>
              </a:ext>
            </a:extLst>
          </p:cNvPr>
          <p:cNvSpPr/>
          <p:nvPr/>
        </p:nvSpPr>
        <p:spPr>
          <a:xfrm>
            <a:off x="863798" y="1551623"/>
            <a:ext cx="5412224" cy="462796"/>
          </a:xfrm>
          <a:prstGeom prst="rect">
            <a:avLst/>
          </a:prstGeom>
          <a:noFill/>
          <a:ln>
            <a:noFill/>
          </a:ln>
        </p:spPr>
        <p:txBody>
          <a:bodyPr spcFirstLastPara="1" wrap="square" lIns="0" tIns="0" rIns="0" bIns="0" anchor="t" anchorCtr="0">
            <a:noAutofit/>
          </a:bodyPr>
          <a:lstStyle/>
          <a:p>
            <a:pPr marL="0" marR="0" lvl="0" indent="0" algn="l" rtl="0">
              <a:lnSpc>
                <a:spcPct val="124137"/>
              </a:lnSpc>
              <a:spcBef>
                <a:spcPts val="0"/>
              </a:spcBef>
              <a:spcAft>
                <a:spcPts val="0"/>
              </a:spcAft>
              <a:buClr>
                <a:srgbClr val="F5F0F0"/>
              </a:buClr>
              <a:buSzPts val="2900"/>
              <a:buFont typeface="Merriweather"/>
              <a:buNone/>
            </a:pPr>
            <a:endParaRPr sz="2800" b="1" i="0" u="none" strike="noStrike" cap="none" dirty="0">
              <a:latin typeface="Times New Roman" panose="02020603050405020304" pitchFamily="18" charset="0"/>
              <a:cs typeface="Times New Roman" panose="02020603050405020304" pitchFamily="18" charset="0"/>
            </a:endParaRPr>
          </a:p>
        </p:txBody>
      </p:sp>
      <p:sp>
        <p:nvSpPr>
          <p:cNvPr id="22" name="Google Shape;106;p5">
            <a:extLst>
              <a:ext uri="{FF2B5EF4-FFF2-40B4-BE49-F238E27FC236}">
                <a16:creationId xmlns:a16="http://schemas.microsoft.com/office/drawing/2014/main" id="{895289BF-DCD3-C0CE-6A03-C4E7F896C9A1}"/>
              </a:ext>
            </a:extLst>
          </p:cNvPr>
          <p:cNvSpPr/>
          <p:nvPr/>
        </p:nvSpPr>
        <p:spPr>
          <a:xfrm>
            <a:off x="863798" y="2430899"/>
            <a:ext cx="4136350" cy="1837968"/>
          </a:xfrm>
          <a:prstGeom prst="roundRect">
            <a:avLst>
              <a:gd name="adj" fmla="val 5640"/>
            </a:avLst>
          </a:prstGeom>
          <a:solidFill>
            <a:srgbClr val="003180"/>
          </a:solidFill>
          <a:ln w="15225" cap="flat" cmpd="sng">
            <a:solidFill>
              <a:srgbClr val="194A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latin typeface="Times New Roman" panose="02020603050405020304" pitchFamily="18" charset="0"/>
              <a:cs typeface="Times New Roman" panose="02020603050405020304" pitchFamily="18" charset="0"/>
            </a:endParaRPr>
          </a:p>
        </p:txBody>
      </p:sp>
      <p:sp>
        <p:nvSpPr>
          <p:cNvPr id="23" name="Google Shape;107;p5">
            <a:extLst>
              <a:ext uri="{FF2B5EF4-FFF2-40B4-BE49-F238E27FC236}">
                <a16:creationId xmlns:a16="http://schemas.microsoft.com/office/drawing/2014/main" id="{85C4B983-D925-553C-122B-EA28989FDF2A}"/>
              </a:ext>
            </a:extLst>
          </p:cNvPr>
          <p:cNvSpPr/>
          <p:nvPr/>
        </p:nvSpPr>
        <p:spPr>
          <a:xfrm>
            <a:off x="1125855" y="2692956"/>
            <a:ext cx="3612237" cy="771049"/>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2E6E9"/>
              </a:buClr>
              <a:buSzPts val="2400"/>
              <a:buFont typeface="Merriweather"/>
              <a:buNone/>
            </a:pPr>
            <a:r>
              <a:rPr lang="en-US" sz="2400" b="1" i="0" u="none" strike="noStrike" cap="none" dirty="0">
                <a:solidFill>
                  <a:srgbClr val="E2E6E9"/>
                </a:solidFill>
                <a:latin typeface="Times New Roman" panose="02020603050405020304" pitchFamily="18" charset="0"/>
                <a:ea typeface="Merriweather"/>
                <a:cs typeface="Times New Roman" panose="02020603050405020304" pitchFamily="18" charset="0"/>
                <a:sym typeface="Merriweather"/>
              </a:rPr>
              <a:t>Apple Health / Google Health</a:t>
            </a:r>
            <a:endParaRPr sz="2400" b="1" i="0" u="none" strike="noStrike" cap="none" dirty="0">
              <a:latin typeface="Times New Roman" panose="02020603050405020304" pitchFamily="18" charset="0"/>
              <a:cs typeface="Times New Roman" panose="02020603050405020304" pitchFamily="18" charset="0"/>
            </a:endParaRPr>
          </a:p>
        </p:txBody>
      </p:sp>
      <p:sp>
        <p:nvSpPr>
          <p:cNvPr id="25" name="Google Shape;108;p5">
            <a:extLst>
              <a:ext uri="{FF2B5EF4-FFF2-40B4-BE49-F238E27FC236}">
                <a16:creationId xmlns:a16="http://schemas.microsoft.com/office/drawing/2014/main" id="{5C5CC3FA-097C-50C9-92C5-39F96E738E4B}"/>
              </a:ext>
            </a:extLst>
          </p:cNvPr>
          <p:cNvSpPr/>
          <p:nvPr/>
        </p:nvSpPr>
        <p:spPr>
          <a:xfrm>
            <a:off x="1125855" y="3611999"/>
            <a:ext cx="3612237" cy="394811"/>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1900"/>
              <a:buFont typeface="Merriweather"/>
              <a:buNone/>
            </a:pPr>
            <a:r>
              <a:rPr lang="en-US" sz="2200" b="1" i="0" u="none" strike="noStrike" cap="none" dirty="0">
                <a:solidFill>
                  <a:srgbClr val="E2E6E9"/>
                </a:solidFill>
                <a:latin typeface="Times New Roman" panose="02020603050405020304" pitchFamily="18" charset="0"/>
                <a:ea typeface="Merriweather"/>
                <a:cs typeface="Times New Roman" panose="02020603050405020304" pitchFamily="18" charset="0"/>
                <a:sym typeface="Merriweather"/>
              </a:rPr>
              <a:t>Focus on wearable data</a:t>
            </a:r>
            <a:endParaRPr sz="2200" b="1" i="0" u="none" strike="noStrike" cap="none" dirty="0">
              <a:latin typeface="Times New Roman" panose="02020603050405020304" pitchFamily="18" charset="0"/>
              <a:cs typeface="Times New Roman" panose="02020603050405020304" pitchFamily="18" charset="0"/>
            </a:endParaRPr>
          </a:p>
        </p:txBody>
      </p:sp>
      <p:sp>
        <p:nvSpPr>
          <p:cNvPr id="29" name="Google Shape;109;p5">
            <a:extLst>
              <a:ext uri="{FF2B5EF4-FFF2-40B4-BE49-F238E27FC236}">
                <a16:creationId xmlns:a16="http://schemas.microsoft.com/office/drawing/2014/main" id="{CFE716FA-3161-18EC-C31B-589355E5C393}"/>
              </a:ext>
            </a:extLst>
          </p:cNvPr>
          <p:cNvSpPr/>
          <p:nvPr/>
        </p:nvSpPr>
        <p:spPr>
          <a:xfrm>
            <a:off x="5246965" y="2430899"/>
            <a:ext cx="4136350" cy="1837968"/>
          </a:xfrm>
          <a:prstGeom prst="roundRect">
            <a:avLst>
              <a:gd name="adj" fmla="val 5640"/>
            </a:avLst>
          </a:prstGeom>
          <a:solidFill>
            <a:srgbClr val="003180"/>
          </a:solidFill>
          <a:ln w="15225" cap="flat" cmpd="sng">
            <a:solidFill>
              <a:srgbClr val="194A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latin typeface="Times New Roman" panose="02020603050405020304" pitchFamily="18" charset="0"/>
              <a:cs typeface="Times New Roman" panose="02020603050405020304" pitchFamily="18" charset="0"/>
            </a:endParaRPr>
          </a:p>
        </p:txBody>
      </p:sp>
      <p:sp>
        <p:nvSpPr>
          <p:cNvPr id="30" name="Google Shape;110;p5">
            <a:extLst>
              <a:ext uri="{FF2B5EF4-FFF2-40B4-BE49-F238E27FC236}">
                <a16:creationId xmlns:a16="http://schemas.microsoft.com/office/drawing/2014/main" id="{508045AD-24C5-1645-EFD1-7DC64A18180F}"/>
              </a:ext>
            </a:extLst>
          </p:cNvPr>
          <p:cNvSpPr/>
          <p:nvPr/>
        </p:nvSpPr>
        <p:spPr>
          <a:xfrm>
            <a:off x="5509022" y="2692956"/>
            <a:ext cx="3612237" cy="771049"/>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2E6E9"/>
              </a:buClr>
              <a:buSzPts val="2400"/>
              <a:buFont typeface="Merriweather"/>
              <a:buNone/>
            </a:pPr>
            <a:r>
              <a:rPr lang="en-US" sz="2400" b="1" i="0" u="none" strike="noStrike" cap="none">
                <a:solidFill>
                  <a:srgbClr val="E2E6E9"/>
                </a:solidFill>
                <a:latin typeface="Times New Roman" panose="02020603050405020304" pitchFamily="18" charset="0"/>
                <a:ea typeface="Merriweather"/>
                <a:cs typeface="Times New Roman" panose="02020603050405020304" pitchFamily="18" charset="0"/>
                <a:sym typeface="Merriweather"/>
              </a:rPr>
              <a:t>Hospital Portals (MyChart type)</a:t>
            </a:r>
            <a:endParaRPr sz="2400" b="1" i="0" u="none" strike="noStrike" cap="none">
              <a:latin typeface="Times New Roman" panose="02020603050405020304" pitchFamily="18" charset="0"/>
              <a:cs typeface="Times New Roman" panose="02020603050405020304" pitchFamily="18" charset="0"/>
            </a:endParaRPr>
          </a:p>
        </p:txBody>
      </p:sp>
      <p:sp>
        <p:nvSpPr>
          <p:cNvPr id="31" name="Google Shape;111;p5">
            <a:extLst>
              <a:ext uri="{FF2B5EF4-FFF2-40B4-BE49-F238E27FC236}">
                <a16:creationId xmlns:a16="http://schemas.microsoft.com/office/drawing/2014/main" id="{9704B5BF-6081-C544-D43B-FB8057BA8D15}"/>
              </a:ext>
            </a:extLst>
          </p:cNvPr>
          <p:cNvSpPr/>
          <p:nvPr/>
        </p:nvSpPr>
        <p:spPr>
          <a:xfrm>
            <a:off x="5509022" y="3611999"/>
            <a:ext cx="3612237" cy="394811"/>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1900"/>
              <a:buFont typeface="Merriweather"/>
              <a:buNone/>
            </a:pPr>
            <a:r>
              <a:rPr lang="en-US" sz="2200" b="1" i="0" u="none" strike="noStrike" cap="none">
                <a:solidFill>
                  <a:srgbClr val="E2E6E9"/>
                </a:solidFill>
                <a:latin typeface="Times New Roman" panose="02020603050405020304" pitchFamily="18" charset="0"/>
                <a:ea typeface="Merriweather"/>
                <a:cs typeface="Times New Roman" panose="02020603050405020304" pitchFamily="18" charset="0"/>
                <a:sym typeface="Merriweather"/>
              </a:rPr>
              <a:t>Only record viewing</a:t>
            </a:r>
            <a:endParaRPr sz="2200" b="1" i="0" u="none" strike="noStrike" cap="none">
              <a:latin typeface="Times New Roman" panose="02020603050405020304" pitchFamily="18" charset="0"/>
              <a:cs typeface="Times New Roman" panose="02020603050405020304" pitchFamily="18" charset="0"/>
            </a:endParaRPr>
          </a:p>
        </p:txBody>
      </p:sp>
      <p:sp>
        <p:nvSpPr>
          <p:cNvPr id="32" name="Google Shape;112;p5">
            <a:extLst>
              <a:ext uri="{FF2B5EF4-FFF2-40B4-BE49-F238E27FC236}">
                <a16:creationId xmlns:a16="http://schemas.microsoft.com/office/drawing/2014/main" id="{0C23018D-1EB6-3CE8-54C5-54AE6CCC7DEA}"/>
              </a:ext>
            </a:extLst>
          </p:cNvPr>
          <p:cNvSpPr/>
          <p:nvPr/>
        </p:nvSpPr>
        <p:spPr>
          <a:xfrm>
            <a:off x="9630132" y="2430899"/>
            <a:ext cx="4136350" cy="1837968"/>
          </a:xfrm>
          <a:prstGeom prst="roundRect">
            <a:avLst>
              <a:gd name="adj" fmla="val 5640"/>
            </a:avLst>
          </a:prstGeom>
          <a:solidFill>
            <a:srgbClr val="003180"/>
          </a:solidFill>
          <a:ln w="15225" cap="flat" cmpd="sng">
            <a:solidFill>
              <a:srgbClr val="194A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latin typeface="Times New Roman" panose="02020603050405020304" pitchFamily="18" charset="0"/>
              <a:cs typeface="Times New Roman" panose="02020603050405020304" pitchFamily="18" charset="0"/>
            </a:endParaRPr>
          </a:p>
        </p:txBody>
      </p:sp>
      <p:sp>
        <p:nvSpPr>
          <p:cNvPr id="33" name="Google Shape;113;p5">
            <a:extLst>
              <a:ext uri="{FF2B5EF4-FFF2-40B4-BE49-F238E27FC236}">
                <a16:creationId xmlns:a16="http://schemas.microsoft.com/office/drawing/2014/main" id="{5E0C8ADF-4D57-18F7-E7A9-B5845654C26D}"/>
              </a:ext>
            </a:extLst>
          </p:cNvPr>
          <p:cNvSpPr/>
          <p:nvPr/>
        </p:nvSpPr>
        <p:spPr>
          <a:xfrm>
            <a:off x="9892189" y="2692956"/>
            <a:ext cx="3085386" cy="385524"/>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2E6E9"/>
              </a:buClr>
              <a:buSzPts val="2400"/>
              <a:buFont typeface="Merriweather"/>
              <a:buNone/>
            </a:pPr>
            <a:r>
              <a:rPr lang="en-US" sz="2400" b="1" i="0" u="none" strike="noStrike" cap="none">
                <a:solidFill>
                  <a:srgbClr val="E2E6E9"/>
                </a:solidFill>
                <a:latin typeface="Times New Roman" panose="02020603050405020304" pitchFamily="18" charset="0"/>
                <a:ea typeface="Merriweather"/>
                <a:cs typeface="Times New Roman" panose="02020603050405020304" pitchFamily="18" charset="0"/>
                <a:sym typeface="Merriweather"/>
              </a:rPr>
              <a:t>Practo / Apollo 24|7</a:t>
            </a:r>
            <a:endParaRPr sz="2400" b="1" i="0" u="none" strike="noStrike" cap="none">
              <a:latin typeface="Times New Roman" panose="02020603050405020304" pitchFamily="18" charset="0"/>
              <a:cs typeface="Times New Roman" panose="02020603050405020304" pitchFamily="18" charset="0"/>
            </a:endParaRPr>
          </a:p>
        </p:txBody>
      </p:sp>
      <p:sp>
        <p:nvSpPr>
          <p:cNvPr id="34" name="Google Shape;114;p5">
            <a:extLst>
              <a:ext uri="{FF2B5EF4-FFF2-40B4-BE49-F238E27FC236}">
                <a16:creationId xmlns:a16="http://schemas.microsoft.com/office/drawing/2014/main" id="{1657EB93-46B4-E3CB-647A-78C74EC73C5A}"/>
              </a:ext>
            </a:extLst>
          </p:cNvPr>
          <p:cNvSpPr/>
          <p:nvPr/>
        </p:nvSpPr>
        <p:spPr>
          <a:xfrm>
            <a:off x="9892189" y="3226475"/>
            <a:ext cx="3612237" cy="394811"/>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1900"/>
              <a:buFont typeface="Merriweather"/>
              <a:buNone/>
            </a:pPr>
            <a:r>
              <a:rPr lang="en-US" sz="2200" b="1" i="0" u="none" strike="noStrike" cap="none">
                <a:solidFill>
                  <a:srgbClr val="E2E6E9"/>
                </a:solidFill>
                <a:latin typeface="Times New Roman" panose="02020603050405020304" pitchFamily="18" charset="0"/>
                <a:ea typeface="Merriweather"/>
                <a:cs typeface="Times New Roman" panose="02020603050405020304" pitchFamily="18" charset="0"/>
                <a:sym typeface="Merriweather"/>
              </a:rPr>
              <a:t>Report storage only</a:t>
            </a:r>
            <a:endParaRPr sz="2200" b="1" i="0" u="none" strike="noStrike" cap="none">
              <a:latin typeface="Times New Roman" panose="02020603050405020304" pitchFamily="18" charset="0"/>
              <a:cs typeface="Times New Roman" panose="02020603050405020304" pitchFamily="18" charset="0"/>
            </a:endParaRPr>
          </a:p>
        </p:txBody>
      </p:sp>
      <p:sp>
        <p:nvSpPr>
          <p:cNvPr id="35" name="Google Shape;115;p5">
            <a:extLst>
              <a:ext uri="{FF2B5EF4-FFF2-40B4-BE49-F238E27FC236}">
                <a16:creationId xmlns:a16="http://schemas.microsoft.com/office/drawing/2014/main" id="{A59812BD-FB82-2644-332A-03121A670526}"/>
              </a:ext>
            </a:extLst>
          </p:cNvPr>
          <p:cNvSpPr/>
          <p:nvPr/>
        </p:nvSpPr>
        <p:spPr>
          <a:xfrm>
            <a:off x="863798" y="4639032"/>
            <a:ext cx="3702368" cy="462796"/>
          </a:xfrm>
          <a:prstGeom prst="rect">
            <a:avLst/>
          </a:prstGeom>
          <a:noFill/>
          <a:ln>
            <a:noFill/>
          </a:ln>
        </p:spPr>
        <p:txBody>
          <a:bodyPr spcFirstLastPara="1" wrap="square" lIns="0" tIns="0" rIns="0" bIns="0" anchor="t" anchorCtr="0">
            <a:noAutofit/>
          </a:bodyPr>
          <a:lstStyle/>
          <a:p>
            <a:pPr marL="0" marR="0" lvl="0" indent="0" algn="l" rtl="0">
              <a:lnSpc>
                <a:spcPct val="124137"/>
              </a:lnSpc>
              <a:spcBef>
                <a:spcPts val="0"/>
              </a:spcBef>
              <a:spcAft>
                <a:spcPts val="0"/>
              </a:spcAft>
              <a:buClr>
                <a:srgbClr val="F5F0F0"/>
              </a:buClr>
              <a:buSzPts val="2900"/>
              <a:buFont typeface="Merriweather"/>
              <a:buNone/>
            </a:pPr>
            <a:r>
              <a:rPr lang="en-US" sz="2900" b="1" i="0" u="none" strike="noStrike" cap="none">
                <a:solidFill>
                  <a:srgbClr val="F5F0F0"/>
                </a:solidFill>
                <a:latin typeface="Times New Roman" panose="02020603050405020304" pitchFamily="18" charset="0"/>
                <a:ea typeface="Merriweather"/>
                <a:cs typeface="Times New Roman" panose="02020603050405020304" pitchFamily="18" charset="0"/>
                <a:sym typeface="Merriweather"/>
              </a:rPr>
              <a:t>Limitations:</a:t>
            </a:r>
            <a:endParaRPr sz="2900" b="1" i="0" u="none" strike="noStrike" cap="none">
              <a:latin typeface="Times New Roman" panose="02020603050405020304" pitchFamily="18" charset="0"/>
              <a:cs typeface="Times New Roman" panose="02020603050405020304" pitchFamily="18" charset="0"/>
            </a:endParaRPr>
          </a:p>
        </p:txBody>
      </p:sp>
      <p:sp>
        <p:nvSpPr>
          <p:cNvPr id="36" name="Google Shape;116;p5">
            <a:extLst>
              <a:ext uri="{FF2B5EF4-FFF2-40B4-BE49-F238E27FC236}">
                <a16:creationId xmlns:a16="http://schemas.microsoft.com/office/drawing/2014/main" id="{16F61D99-70EE-BB6C-5EB7-57770166BCA7}"/>
              </a:ext>
            </a:extLst>
          </p:cNvPr>
          <p:cNvSpPr/>
          <p:nvPr/>
        </p:nvSpPr>
        <p:spPr>
          <a:xfrm>
            <a:off x="863798" y="5471993"/>
            <a:ext cx="12902803" cy="1357074"/>
          </a:xfrm>
          <a:prstGeom prst="rect">
            <a:avLst/>
          </a:prstGeom>
          <a:noFill/>
          <a:ln>
            <a:noFill/>
          </a:ln>
        </p:spPr>
        <p:txBody>
          <a:bodyPr spcFirstLastPara="1" wrap="square" lIns="0" tIns="0" rIns="0" bIns="0" anchor="t" anchorCtr="0">
            <a:noAutofit/>
          </a:bodyPr>
          <a:lstStyle/>
          <a:p>
            <a:pPr marL="342900" marR="0" lvl="0" indent="-342900" algn="l" rtl="0">
              <a:lnSpc>
                <a:spcPct val="163157"/>
              </a:lnSpc>
              <a:spcBef>
                <a:spcPts val="0"/>
              </a:spcBef>
              <a:spcAft>
                <a:spcPts val="0"/>
              </a:spcAft>
              <a:buClr>
                <a:srgbClr val="E2E6E9"/>
              </a:buClr>
              <a:buSzPts val="1900"/>
              <a:buFont typeface="Merriweather"/>
              <a:buChar char="•"/>
            </a:pPr>
            <a:r>
              <a:rPr lang="en-US" sz="2500" b="1" i="0" u="none" strike="noStrike" cap="none" dirty="0">
                <a:solidFill>
                  <a:srgbClr val="E2E6E9"/>
                </a:solidFill>
                <a:latin typeface="Times New Roman" panose="02020603050405020304" pitchFamily="18" charset="0"/>
                <a:ea typeface="Merriweather"/>
                <a:cs typeface="Times New Roman" panose="02020603050405020304" pitchFamily="18" charset="0"/>
                <a:sym typeface="Merriweather"/>
              </a:rPr>
              <a:t>No OCR-based value extraction</a:t>
            </a:r>
            <a:endParaRPr sz="2500" b="1" i="0" u="none" strike="noStrike" cap="none" dirty="0">
              <a:latin typeface="Times New Roman" panose="02020603050405020304" pitchFamily="18" charset="0"/>
              <a:cs typeface="Times New Roman" panose="02020603050405020304" pitchFamily="18" charset="0"/>
            </a:endParaRPr>
          </a:p>
          <a:p>
            <a:pPr marL="342900" marR="0" lvl="0" indent="-342900" algn="l" rtl="0">
              <a:lnSpc>
                <a:spcPct val="163157"/>
              </a:lnSpc>
              <a:spcBef>
                <a:spcPts val="0"/>
              </a:spcBef>
              <a:spcAft>
                <a:spcPts val="0"/>
              </a:spcAft>
              <a:buClr>
                <a:srgbClr val="E2E6E9"/>
              </a:buClr>
              <a:buSzPts val="1900"/>
              <a:buFont typeface="Merriweather"/>
              <a:buChar char="•"/>
            </a:pPr>
            <a:r>
              <a:rPr lang="en-US" sz="2500" b="1" i="0" u="none" strike="noStrike" cap="none" dirty="0">
                <a:solidFill>
                  <a:srgbClr val="E2E6E9"/>
                </a:solidFill>
                <a:latin typeface="Times New Roman" panose="02020603050405020304" pitchFamily="18" charset="0"/>
                <a:ea typeface="Merriweather"/>
                <a:cs typeface="Times New Roman" panose="02020603050405020304" pitchFamily="18" charset="0"/>
                <a:sym typeface="Merriweather"/>
              </a:rPr>
              <a:t>No structured data analytics</a:t>
            </a:r>
            <a:endParaRPr sz="2500" b="1" i="0" u="none" strike="noStrike" cap="none" dirty="0">
              <a:latin typeface="Times New Roman" panose="02020603050405020304" pitchFamily="18" charset="0"/>
              <a:cs typeface="Times New Roman" panose="02020603050405020304" pitchFamily="18" charset="0"/>
            </a:endParaRPr>
          </a:p>
          <a:p>
            <a:pPr marL="342900" marR="0" lvl="0" indent="-342900" algn="l" rtl="0">
              <a:lnSpc>
                <a:spcPct val="163157"/>
              </a:lnSpc>
              <a:spcBef>
                <a:spcPts val="0"/>
              </a:spcBef>
              <a:spcAft>
                <a:spcPts val="0"/>
              </a:spcAft>
              <a:buClr>
                <a:srgbClr val="E2E6E9"/>
              </a:buClr>
              <a:buSzPts val="1900"/>
              <a:buFont typeface="Merriweather"/>
              <a:buChar char="•"/>
            </a:pPr>
            <a:r>
              <a:rPr lang="en-US" sz="2500" b="1" i="0" u="none" strike="noStrike" cap="none" dirty="0">
                <a:solidFill>
                  <a:srgbClr val="E2E6E9"/>
                </a:solidFill>
                <a:latin typeface="Times New Roman" panose="02020603050405020304" pitchFamily="18" charset="0"/>
                <a:ea typeface="Merriweather"/>
                <a:cs typeface="Times New Roman" panose="02020603050405020304" pitchFamily="18" charset="0"/>
                <a:sym typeface="Merriweather"/>
              </a:rPr>
              <a:t>No ML-based </a:t>
            </a:r>
            <a:r>
              <a:rPr lang="en-US" sz="2500" b="1" dirty="0">
                <a:solidFill>
                  <a:srgbClr val="E2E6E9"/>
                </a:solidFill>
                <a:latin typeface="Times New Roman" panose="02020603050405020304" pitchFamily="18" charset="0"/>
                <a:ea typeface="Merriweather"/>
                <a:cs typeface="Times New Roman" panose="02020603050405020304" pitchFamily="18" charset="0"/>
                <a:sym typeface="Merriweather"/>
              </a:rPr>
              <a:t>analytics</a:t>
            </a:r>
            <a:r>
              <a:rPr lang="en-US" sz="2500" b="1" i="0" u="none" strike="noStrike" cap="none" dirty="0">
                <a:solidFill>
                  <a:srgbClr val="E2E6E9"/>
                </a:solidFill>
                <a:latin typeface="Times New Roman" panose="02020603050405020304" pitchFamily="18" charset="0"/>
                <a:ea typeface="Merriweather"/>
                <a:cs typeface="Times New Roman" panose="02020603050405020304" pitchFamily="18" charset="0"/>
                <a:sym typeface="Merriweather"/>
              </a:rPr>
              <a:t> from uploaded reports</a:t>
            </a:r>
            <a:endParaRPr sz="2500" b="1" i="0" u="none" strike="noStrike" cap="none" dirty="0">
              <a:latin typeface="Times New Roman" panose="02020603050405020304" pitchFamily="18" charset="0"/>
              <a:cs typeface="Times New Roman" panose="02020603050405020304" pitchFamily="18" charset="0"/>
            </a:endParaRPr>
          </a:p>
        </p:txBody>
      </p:sp>
      <p:sp>
        <p:nvSpPr>
          <p:cNvPr id="37" name="Google Shape;117;p5">
            <a:extLst>
              <a:ext uri="{FF2B5EF4-FFF2-40B4-BE49-F238E27FC236}">
                <a16:creationId xmlns:a16="http://schemas.microsoft.com/office/drawing/2014/main" id="{DA626E34-2DA4-1D2C-DA46-2459D7E70900}"/>
              </a:ext>
            </a:extLst>
          </p:cNvPr>
          <p:cNvSpPr/>
          <p:nvPr/>
        </p:nvSpPr>
        <p:spPr>
          <a:xfrm>
            <a:off x="863798" y="7106722"/>
            <a:ext cx="12902803" cy="394811"/>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2E6E9"/>
              </a:buClr>
              <a:buSzPts val="1900"/>
              <a:buFont typeface="Merriweather"/>
              <a:buNone/>
            </a:pPr>
            <a:endParaRPr sz="1900" b="1" i="0" u="none" strike="noStrike"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2222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D4716-9A25-A63E-F831-7773EB741414}"/>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9AFD7B65-41BB-A437-1A4F-74A506AE8F86}"/>
              </a:ext>
            </a:extLst>
          </p:cNvPr>
          <p:cNvPicPr>
            <a:picLocks noChangeAspect="1"/>
          </p:cNvPicPr>
          <p:nvPr/>
        </p:nvPicPr>
        <p:blipFill>
          <a:blip r:embed="rId3">
            <a:alphaModFix amt="15000"/>
          </a:blip>
          <a:stretch>
            <a:fillRect/>
          </a:stretch>
        </p:blipFill>
        <p:spPr>
          <a:xfrm>
            <a:off x="-259826" y="-21589"/>
            <a:ext cx="15149198" cy="8268937"/>
          </a:xfrm>
          <a:prstGeom prst="rect">
            <a:avLst/>
          </a:prstGeom>
        </p:spPr>
      </p:pic>
      <p:pic>
        <p:nvPicPr>
          <p:cNvPr id="18" name="Picture 17">
            <a:extLst>
              <a:ext uri="{FF2B5EF4-FFF2-40B4-BE49-F238E27FC236}">
                <a16:creationId xmlns:a16="http://schemas.microsoft.com/office/drawing/2014/main" id="{666415AB-12F0-DFE5-F9F1-CBEE288DA020}"/>
              </a:ext>
            </a:extLst>
          </p:cNvPr>
          <p:cNvPicPr>
            <a:picLocks noChangeAspect="1"/>
          </p:cNvPicPr>
          <p:nvPr/>
        </p:nvPicPr>
        <p:blipFill>
          <a:blip r:embed="rId4"/>
          <a:stretch>
            <a:fillRect/>
          </a:stretch>
        </p:blipFill>
        <p:spPr>
          <a:xfrm>
            <a:off x="12557525" y="7674421"/>
            <a:ext cx="2072875" cy="525317"/>
          </a:xfrm>
          <a:prstGeom prst="rect">
            <a:avLst/>
          </a:prstGeom>
        </p:spPr>
      </p:pic>
      <p:sp>
        <p:nvSpPr>
          <p:cNvPr id="20" name="Google Shape;104;p5">
            <a:extLst>
              <a:ext uri="{FF2B5EF4-FFF2-40B4-BE49-F238E27FC236}">
                <a16:creationId xmlns:a16="http://schemas.microsoft.com/office/drawing/2014/main" id="{A94C2081-C641-1354-CE9E-83AA69FFE0C5}"/>
              </a:ext>
            </a:extLst>
          </p:cNvPr>
          <p:cNvSpPr/>
          <p:nvPr/>
        </p:nvSpPr>
        <p:spPr>
          <a:xfrm>
            <a:off x="863798" y="629246"/>
            <a:ext cx="11637645" cy="771287"/>
          </a:xfrm>
          <a:prstGeom prst="rect">
            <a:avLst/>
          </a:prstGeom>
          <a:noFill/>
          <a:ln>
            <a:noFill/>
          </a:ln>
        </p:spPr>
        <p:txBody>
          <a:bodyPr spcFirstLastPara="1" wrap="square" lIns="0" tIns="0" rIns="0" bIns="0" anchor="t" anchorCtr="0">
            <a:noAutofit/>
          </a:bodyPr>
          <a:lstStyle/>
          <a:p>
            <a:pPr marL="0" marR="0" lvl="0" indent="0" algn="l" rtl="0">
              <a:lnSpc>
                <a:spcPct val="124742"/>
              </a:lnSpc>
              <a:spcBef>
                <a:spcPts val="0"/>
              </a:spcBef>
              <a:spcAft>
                <a:spcPts val="0"/>
              </a:spcAft>
              <a:buClr>
                <a:srgbClr val="F5F0F0"/>
              </a:buClr>
              <a:buSzPts val="4850"/>
              <a:buFont typeface="Merriweather"/>
              <a:buNone/>
            </a:pPr>
            <a:endParaRPr sz="2500" b="1" i="0" u="none" strike="noStrike" cap="none"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3B37950-83DC-B412-2E32-0CB938C93139}"/>
              </a:ext>
            </a:extLst>
          </p:cNvPr>
          <p:cNvSpPr txBox="1"/>
          <p:nvPr/>
        </p:nvSpPr>
        <p:spPr>
          <a:xfrm>
            <a:off x="373260" y="2399178"/>
            <a:ext cx="14100048" cy="4324261"/>
          </a:xfrm>
          <a:prstGeom prst="rect">
            <a:avLst/>
          </a:prstGeom>
          <a:noFill/>
        </p:spPr>
        <p:txBody>
          <a:bodyPr wrap="square">
            <a:spAutoFit/>
          </a:bodyPr>
          <a:lstStyle/>
          <a:p>
            <a:pPr marL="0" marR="0" lvl="0" indent="0" algn="l" defTabSz="914400" rtl="0" eaLnBrk="0" fontAlgn="base" latinLnBrk="0" hangingPunct="0">
              <a:spcBef>
                <a:spcPct val="0"/>
              </a:spcBef>
              <a:spcAft>
                <a:spcPct val="0"/>
              </a:spcAft>
              <a:buClrTx/>
              <a:buSzTx/>
              <a:buFontTx/>
              <a:buAutoNum type="arabicPeriod"/>
              <a:tabLst/>
            </a:pPr>
            <a:r>
              <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The empathy map focuses on patients who receive medical reports from hospitals or labs.</a:t>
            </a:r>
          </a:p>
          <a:p>
            <a:pPr marL="0" marR="0" lvl="0" indent="0" algn="l" defTabSz="914400" rtl="0" eaLnBrk="0" fontAlgn="base" latinLnBrk="0" hangingPunct="0">
              <a:spcBef>
                <a:spcPct val="0"/>
              </a:spcBef>
              <a:spcAft>
                <a:spcPct val="0"/>
              </a:spcAft>
              <a:buClrTx/>
              <a:buSzTx/>
              <a:tabLst/>
            </a:pPr>
            <a:endPar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ct val="0"/>
              </a:spcBef>
              <a:spcAft>
                <a:spcPct val="0"/>
              </a:spcAft>
              <a:buClrTx/>
              <a:buSzTx/>
              <a:buFontTx/>
              <a:buAutoNum type="arabicPeriod" startAt="2"/>
              <a:tabLst/>
            </a:pPr>
            <a:r>
              <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Users want an easy way to understand and organize their medical reports.</a:t>
            </a:r>
          </a:p>
          <a:p>
            <a:pPr marL="0" marR="0" lvl="0" indent="0" algn="l" defTabSz="914400" rtl="0" eaLnBrk="0" fontAlgn="base" latinLnBrk="0" hangingPunct="0">
              <a:spcBef>
                <a:spcPct val="0"/>
              </a:spcBef>
              <a:spcAft>
                <a:spcPct val="0"/>
              </a:spcAft>
              <a:buClrTx/>
              <a:buSzTx/>
              <a:tabLst/>
            </a:pPr>
            <a:endPar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ct val="0"/>
              </a:spcBef>
              <a:spcAft>
                <a:spcPct val="0"/>
              </a:spcAft>
              <a:buClrTx/>
              <a:buSzTx/>
              <a:buFontTx/>
              <a:buAutoNum type="arabicPeriod" startAt="3"/>
              <a:tabLst/>
            </a:pPr>
            <a:r>
              <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The system allows users to upload reports (PDF or images) and extract important medical values.</a:t>
            </a:r>
          </a:p>
          <a:p>
            <a:pPr marL="0" marR="0" lvl="0" indent="0" algn="l" defTabSz="914400" rtl="0" eaLnBrk="0" fontAlgn="base" latinLnBrk="0" hangingPunct="0">
              <a:spcBef>
                <a:spcPct val="0"/>
              </a:spcBef>
              <a:spcAft>
                <a:spcPct val="0"/>
              </a:spcAft>
              <a:buClrTx/>
              <a:buSzTx/>
              <a:tabLst/>
            </a:pPr>
            <a:endPar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ct val="0"/>
              </a:spcBef>
              <a:spcAft>
                <a:spcPct val="0"/>
              </a:spcAft>
              <a:buClrTx/>
              <a:buSzTx/>
              <a:buFontTx/>
              <a:buAutoNum type="arabicPeriod" startAt="4"/>
              <a:tabLst/>
            </a:pPr>
            <a:r>
              <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Current problems include difficulty understanding reports and scattered storage of records.</a:t>
            </a:r>
          </a:p>
          <a:p>
            <a:pPr marL="0" marR="0" lvl="0" indent="0" algn="l" defTabSz="914400" rtl="0" eaLnBrk="0" fontAlgn="base" latinLnBrk="0" hangingPunct="0">
              <a:spcBef>
                <a:spcPct val="0"/>
              </a:spcBef>
              <a:spcAft>
                <a:spcPct val="0"/>
              </a:spcAft>
              <a:buClrTx/>
              <a:buSzTx/>
              <a:tabLst/>
            </a:pPr>
            <a:endPar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ct val="0"/>
              </a:spcBef>
              <a:spcAft>
                <a:spcPct val="0"/>
              </a:spcAft>
              <a:buClrTx/>
              <a:buSzTx/>
              <a:buFontTx/>
              <a:buAutoNum type="arabicPeriod" startAt="5"/>
              <a:tabLst/>
            </a:pPr>
            <a:r>
              <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The solution aims to provide organized digital storage, data visualization, and basic health risk prediction using machine learning.</a:t>
            </a:r>
          </a:p>
          <a:p>
            <a:pPr marL="0" marR="0" lvl="0" indent="0" algn="l" defTabSz="914400" rtl="0" eaLnBrk="0" fontAlgn="base" latinLnBrk="0" hangingPunct="0">
              <a:spcBef>
                <a:spcPct val="0"/>
              </a:spcBef>
              <a:spcAft>
                <a:spcPct val="0"/>
              </a:spcAft>
              <a:buClrTx/>
              <a:buSzTx/>
              <a:buFontTx/>
              <a:buNone/>
              <a:tabLst/>
            </a:pPr>
            <a:endPar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9083A27-2F12-89E3-8B3B-4EFF83A091F2}"/>
              </a:ext>
            </a:extLst>
          </p:cNvPr>
          <p:cNvSpPr txBox="1"/>
          <p:nvPr/>
        </p:nvSpPr>
        <p:spPr>
          <a:xfrm>
            <a:off x="373260" y="915295"/>
            <a:ext cx="13653636" cy="1815753"/>
          </a:xfrm>
          <a:prstGeom prst="rect">
            <a:avLst/>
          </a:prstGeom>
          <a:noFill/>
        </p:spPr>
        <p:txBody>
          <a:bodyPr wrap="square">
            <a:spAutoFit/>
          </a:bodyPr>
          <a:lstStyle/>
          <a:p>
            <a:pPr>
              <a:lnSpc>
                <a:spcPct val="124742"/>
              </a:lnSpc>
              <a:buClr>
                <a:srgbClr val="F5F0F0"/>
              </a:buClr>
              <a:buSzPts val="4850"/>
            </a:pPr>
            <a:r>
              <a:rPr lang="en-US" sz="4700" b="1" dirty="0">
                <a:solidFill>
                  <a:srgbClr val="F5F0F0"/>
                </a:solidFill>
                <a:latin typeface="Times New Roman" panose="02020603050405020304" pitchFamily="18" charset="0"/>
                <a:ea typeface="Merriweather"/>
                <a:cs typeface="Times New Roman" panose="02020603050405020304" pitchFamily="18" charset="0"/>
                <a:sym typeface="Merriweather"/>
              </a:rPr>
              <a:t>Primary Research - </a:t>
            </a:r>
            <a:r>
              <a:rPr lang="en-IN" sz="4700" b="1" dirty="0">
                <a:solidFill>
                  <a:schemeClr val="accent1"/>
                </a:solidFill>
                <a:latin typeface="Times New Roman" panose="02020603050405020304" pitchFamily="18" charset="0"/>
                <a:cs typeface="Times New Roman" panose="02020603050405020304" pitchFamily="18" charset="0"/>
              </a:rPr>
              <a:t>Empathy Map Summary </a:t>
            </a:r>
            <a:endParaRPr lang="en-US" altLang="en-US" sz="4700" b="1" dirty="0">
              <a:solidFill>
                <a:schemeClr val="accent1"/>
              </a:solidFill>
              <a:latin typeface="Times New Roman" panose="02020603050405020304" pitchFamily="18" charset="0"/>
              <a:cs typeface="Times New Roman" panose="02020603050405020304" pitchFamily="18" charset="0"/>
            </a:endParaRPr>
          </a:p>
          <a:p>
            <a:pPr lvl="0">
              <a:lnSpc>
                <a:spcPct val="124742"/>
              </a:lnSpc>
              <a:buClr>
                <a:srgbClr val="F5F0F0"/>
              </a:buClr>
              <a:buSzPts val="4850"/>
            </a:pPr>
            <a:endParaRPr lang="en-US" sz="47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3337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E5E67-6BA1-98DD-486A-D7CE77423C9E}"/>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907FA0DB-38F4-E8FF-344A-69DFF7CF180D}"/>
              </a:ext>
            </a:extLst>
          </p:cNvPr>
          <p:cNvPicPr>
            <a:picLocks noChangeAspect="1"/>
          </p:cNvPicPr>
          <p:nvPr/>
        </p:nvPicPr>
        <p:blipFill>
          <a:blip r:embed="rId3">
            <a:alphaModFix amt="15000"/>
          </a:blip>
          <a:stretch>
            <a:fillRect/>
          </a:stretch>
        </p:blipFill>
        <p:spPr>
          <a:xfrm>
            <a:off x="-259826" y="-21589"/>
            <a:ext cx="15149198" cy="8268937"/>
          </a:xfrm>
          <a:prstGeom prst="rect">
            <a:avLst/>
          </a:prstGeom>
        </p:spPr>
      </p:pic>
      <p:pic>
        <p:nvPicPr>
          <p:cNvPr id="18" name="Picture 17">
            <a:extLst>
              <a:ext uri="{FF2B5EF4-FFF2-40B4-BE49-F238E27FC236}">
                <a16:creationId xmlns:a16="http://schemas.microsoft.com/office/drawing/2014/main" id="{0E14318E-5CFB-90FB-B876-4E2120AF1339}"/>
              </a:ext>
            </a:extLst>
          </p:cNvPr>
          <p:cNvPicPr>
            <a:picLocks noChangeAspect="1"/>
          </p:cNvPicPr>
          <p:nvPr/>
        </p:nvPicPr>
        <p:blipFill>
          <a:blip r:embed="rId4"/>
          <a:stretch>
            <a:fillRect/>
          </a:stretch>
        </p:blipFill>
        <p:spPr>
          <a:xfrm>
            <a:off x="12557525" y="7674421"/>
            <a:ext cx="2072875" cy="525317"/>
          </a:xfrm>
          <a:prstGeom prst="rect">
            <a:avLst/>
          </a:prstGeom>
        </p:spPr>
      </p:pic>
      <p:sp>
        <p:nvSpPr>
          <p:cNvPr id="20" name="Google Shape;104;p5">
            <a:extLst>
              <a:ext uri="{FF2B5EF4-FFF2-40B4-BE49-F238E27FC236}">
                <a16:creationId xmlns:a16="http://schemas.microsoft.com/office/drawing/2014/main" id="{1FF8342F-560B-0BD0-17D6-7345E37560F4}"/>
              </a:ext>
            </a:extLst>
          </p:cNvPr>
          <p:cNvSpPr/>
          <p:nvPr/>
        </p:nvSpPr>
        <p:spPr>
          <a:xfrm>
            <a:off x="863798" y="629246"/>
            <a:ext cx="11637645" cy="771287"/>
          </a:xfrm>
          <a:prstGeom prst="rect">
            <a:avLst/>
          </a:prstGeom>
          <a:noFill/>
          <a:ln>
            <a:noFill/>
          </a:ln>
        </p:spPr>
        <p:txBody>
          <a:bodyPr spcFirstLastPara="1" wrap="square" lIns="0" tIns="0" rIns="0" bIns="0" anchor="t" anchorCtr="0">
            <a:noAutofit/>
          </a:bodyPr>
          <a:lstStyle/>
          <a:p>
            <a:pPr marL="0" marR="0" lvl="0" indent="0" algn="l" rtl="0">
              <a:lnSpc>
                <a:spcPct val="124742"/>
              </a:lnSpc>
              <a:spcBef>
                <a:spcPts val="0"/>
              </a:spcBef>
              <a:spcAft>
                <a:spcPts val="0"/>
              </a:spcAft>
              <a:buClr>
                <a:srgbClr val="F5F0F0"/>
              </a:buClr>
              <a:buSzPts val="4850"/>
              <a:buFont typeface="Merriweather"/>
              <a:buNone/>
            </a:pPr>
            <a:endParaRPr sz="4700" b="0" i="0" u="none" strike="noStrike" cap="none" dirty="0"/>
          </a:p>
        </p:txBody>
      </p:sp>
      <p:sp>
        <p:nvSpPr>
          <p:cNvPr id="5" name="TextBox 4">
            <a:extLst>
              <a:ext uri="{FF2B5EF4-FFF2-40B4-BE49-F238E27FC236}">
                <a16:creationId xmlns:a16="http://schemas.microsoft.com/office/drawing/2014/main" id="{82CD9AAF-42BF-304F-B21E-313642BFF34B}"/>
              </a:ext>
            </a:extLst>
          </p:cNvPr>
          <p:cNvSpPr txBox="1"/>
          <p:nvPr/>
        </p:nvSpPr>
        <p:spPr>
          <a:xfrm>
            <a:off x="479750" y="1576888"/>
            <a:ext cx="14004346" cy="6371103"/>
          </a:xfrm>
          <a:prstGeom prst="rect">
            <a:avLst/>
          </a:prstGeom>
          <a:noFill/>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Patients receive medical reports mainly as PDFs or images, which are hard to manage.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Many users cannot easily understand medical values in reports.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Apple Health / Google Health focus mostly on wearable device data.</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Hospital portals (MyChart type) mainly allow record viewing.</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1" i="0" u="none" strike="noStrike" cap="none" normalizeH="0" baseline="0" dirty="0" err="1">
                <a:ln>
                  <a:noFill/>
                </a:ln>
                <a:solidFill>
                  <a:schemeClr val="bg1"/>
                </a:solidFill>
                <a:effectLst/>
                <a:latin typeface="Times New Roman" panose="02020603050405020304" pitchFamily="18" charset="0"/>
                <a:cs typeface="Times New Roman" panose="02020603050405020304" pitchFamily="18" charset="0"/>
              </a:rPr>
              <a:t>Practo</a:t>
            </a:r>
            <a:r>
              <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 Apollo apps mostly provide report storage only.</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Existing systems do not extract values automatically from reports.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Most platforms lack structured health data analytics.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Patients often store reports in phone folders or galleries.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Users need a simple system to organize and understand reports.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This shows the need for a patient-centric platform like </a:t>
            </a:r>
            <a:r>
              <a:rPr kumimoji="0" lang="en-US" altLang="en-US" sz="2500" b="1" i="0" u="none" strike="noStrike" cap="none" normalizeH="0" baseline="0" dirty="0" err="1">
                <a:ln>
                  <a:noFill/>
                </a:ln>
                <a:solidFill>
                  <a:schemeClr val="bg1"/>
                </a:solidFill>
                <a:effectLst/>
                <a:latin typeface="Times New Roman" panose="02020603050405020304" pitchFamily="18" charset="0"/>
                <a:cs typeface="Times New Roman" panose="02020603050405020304" pitchFamily="18" charset="0"/>
              </a:rPr>
              <a:t>Healytics</a:t>
            </a:r>
            <a:r>
              <a:rPr kumimoji="0" lang="en-US" altLang="en-US" sz="25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for report extraction and health analysis.</a:t>
            </a:r>
          </a:p>
        </p:txBody>
      </p:sp>
      <p:sp>
        <p:nvSpPr>
          <p:cNvPr id="7" name="TextBox 6">
            <a:extLst>
              <a:ext uri="{FF2B5EF4-FFF2-40B4-BE49-F238E27FC236}">
                <a16:creationId xmlns:a16="http://schemas.microsoft.com/office/drawing/2014/main" id="{233CDD23-FF5D-8D38-C972-13A72C03BDAE}"/>
              </a:ext>
            </a:extLst>
          </p:cNvPr>
          <p:cNvSpPr txBox="1"/>
          <p:nvPr/>
        </p:nvSpPr>
        <p:spPr>
          <a:xfrm>
            <a:off x="555842" y="492656"/>
            <a:ext cx="14333530" cy="1815753"/>
          </a:xfrm>
          <a:prstGeom prst="rect">
            <a:avLst/>
          </a:prstGeom>
          <a:noFill/>
        </p:spPr>
        <p:txBody>
          <a:bodyPr wrap="square">
            <a:spAutoFit/>
          </a:bodyPr>
          <a:lstStyle/>
          <a:p>
            <a:pPr>
              <a:lnSpc>
                <a:spcPct val="124742"/>
              </a:lnSpc>
              <a:buClr>
                <a:srgbClr val="F5F0F0"/>
              </a:buClr>
              <a:buSzPts val="4850"/>
            </a:pPr>
            <a:r>
              <a:rPr lang="en-US" sz="4700" b="1" dirty="0">
                <a:solidFill>
                  <a:srgbClr val="F5F0F0"/>
                </a:solidFill>
                <a:latin typeface="Times New Roman" panose="02020603050405020304" pitchFamily="18" charset="0"/>
                <a:ea typeface="Merriweather"/>
                <a:cs typeface="Times New Roman" panose="02020603050405020304" pitchFamily="18" charset="0"/>
                <a:sym typeface="Merriweather"/>
              </a:rPr>
              <a:t>Primary Research - </a:t>
            </a:r>
            <a:r>
              <a:rPr lang="en-IN" sz="4700" b="1" dirty="0">
                <a:solidFill>
                  <a:schemeClr val="accent1"/>
                </a:solidFill>
                <a:latin typeface="Times New Roman" panose="02020603050405020304" pitchFamily="18" charset="0"/>
                <a:cs typeface="Times New Roman" panose="02020603050405020304" pitchFamily="18" charset="0"/>
              </a:rPr>
              <a:t>Summary </a:t>
            </a:r>
            <a:endParaRPr lang="en-US" altLang="en-US" sz="4700" b="1" dirty="0">
              <a:solidFill>
                <a:schemeClr val="accent1"/>
              </a:solidFill>
              <a:latin typeface="Times New Roman" panose="02020603050405020304" pitchFamily="18" charset="0"/>
              <a:cs typeface="Times New Roman" panose="02020603050405020304" pitchFamily="18" charset="0"/>
            </a:endParaRPr>
          </a:p>
          <a:p>
            <a:pPr lvl="0">
              <a:lnSpc>
                <a:spcPct val="124742"/>
              </a:lnSpc>
              <a:buClr>
                <a:srgbClr val="F5F0F0"/>
              </a:buClr>
              <a:buSzPts val="4850"/>
            </a:pPr>
            <a:endParaRPr lang="en-US" sz="47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6022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FEC6C-62C8-3397-7088-97F890F08FD4}"/>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A9EDDEC7-9473-D883-96A2-A91025567F75}"/>
              </a:ext>
            </a:extLst>
          </p:cNvPr>
          <p:cNvPicPr>
            <a:picLocks noChangeAspect="1"/>
          </p:cNvPicPr>
          <p:nvPr/>
        </p:nvPicPr>
        <p:blipFill>
          <a:blip r:embed="rId3">
            <a:alphaModFix amt="15000"/>
          </a:blip>
          <a:stretch>
            <a:fillRect/>
          </a:stretch>
        </p:blipFill>
        <p:spPr>
          <a:xfrm>
            <a:off x="-259826" y="-21589"/>
            <a:ext cx="15149198" cy="8268937"/>
          </a:xfrm>
          <a:prstGeom prst="rect">
            <a:avLst/>
          </a:prstGeom>
        </p:spPr>
      </p:pic>
      <p:pic>
        <p:nvPicPr>
          <p:cNvPr id="18" name="Picture 17">
            <a:extLst>
              <a:ext uri="{FF2B5EF4-FFF2-40B4-BE49-F238E27FC236}">
                <a16:creationId xmlns:a16="http://schemas.microsoft.com/office/drawing/2014/main" id="{726586D8-9DDC-E784-878E-E8322859EE7F}"/>
              </a:ext>
            </a:extLst>
          </p:cNvPr>
          <p:cNvPicPr>
            <a:picLocks noChangeAspect="1"/>
          </p:cNvPicPr>
          <p:nvPr/>
        </p:nvPicPr>
        <p:blipFill>
          <a:blip r:embed="rId4"/>
          <a:stretch>
            <a:fillRect/>
          </a:stretch>
        </p:blipFill>
        <p:spPr>
          <a:xfrm>
            <a:off x="12557525" y="7674421"/>
            <a:ext cx="2072875" cy="525317"/>
          </a:xfrm>
          <a:prstGeom prst="rect">
            <a:avLst/>
          </a:prstGeom>
        </p:spPr>
      </p:pic>
      <p:sp>
        <p:nvSpPr>
          <p:cNvPr id="20" name="Google Shape;104;p5">
            <a:extLst>
              <a:ext uri="{FF2B5EF4-FFF2-40B4-BE49-F238E27FC236}">
                <a16:creationId xmlns:a16="http://schemas.microsoft.com/office/drawing/2014/main" id="{6A8A4A02-4486-C726-8B69-8026B33EA9E7}"/>
              </a:ext>
            </a:extLst>
          </p:cNvPr>
          <p:cNvSpPr/>
          <p:nvPr/>
        </p:nvSpPr>
        <p:spPr>
          <a:xfrm>
            <a:off x="863798" y="629246"/>
            <a:ext cx="11637645" cy="771287"/>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5F0F0"/>
              </a:buClr>
              <a:buSzPts val="4850"/>
              <a:buFont typeface="Merriweather"/>
              <a:buNone/>
            </a:pPr>
            <a:endParaRPr sz="2300" b="1" i="0" u="none" strike="noStrike" cap="none" dirty="0">
              <a:latin typeface="Times New Roman" panose="02020603050405020304" pitchFamily="18" charset="0"/>
              <a:cs typeface="Times New Roman" panose="02020603050405020304" pitchFamily="18" charset="0"/>
            </a:endParaRPr>
          </a:p>
        </p:txBody>
      </p:sp>
      <p:sp>
        <p:nvSpPr>
          <p:cNvPr id="15" name="Google Shape;124;p6">
            <a:extLst>
              <a:ext uri="{FF2B5EF4-FFF2-40B4-BE49-F238E27FC236}">
                <a16:creationId xmlns:a16="http://schemas.microsoft.com/office/drawing/2014/main" id="{67634365-4027-73ED-A6F7-3272FA8BEE48}"/>
              </a:ext>
            </a:extLst>
          </p:cNvPr>
          <p:cNvSpPr/>
          <p:nvPr/>
        </p:nvSpPr>
        <p:spPr>
          <a:xfrm>
            <a:off x="574775" y="390415"/>
            <a:ext cx="11982750" cy="651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5F0F0"/>
              </a:buClr>
              <a:buSzPts val="4100"/>
              <a:buFont typeface="Merriweather"/>
              <a:buNone/>
            </a:pPr>
            <a:r>
              <a:rPr lang="en-US" sz="4700" b="1" i="0" u="none" strike="noStrike" cap="none" dirty="0">
                <a:solidFill>
                  <a:srgbClr val="F5F0F0"/>
                </a:solidFill>
                <a:latin typeface="Times New Roman" panose="02020603050405020304" pitchFamily="18" charset="0"/>
                <a:ea typeface="Merriweather"/>
                <a:cs typeface="Times New Roman" panose="02020603050405020304" pitchFamily="18" charset="0"/>
                <a:sym typeface="Merriweather"/>
              </a:rPr>
              <a:t>Secondary Research </a:t>
            </a:r>
            <a:r>
              <a:rPr lang="en-US" sz="4700" b="1" dirty="0">
                <a:solidFill>
                  <a:srgbClr val="F5F0F0"/>
                </a:solidFill>
                <a:latin typeface="Times New Roman" panose="02020603050405020304" pitchFamily="18" charset="0"/>
                <a:ea typeface="Merriweather"/>
                <a:cs typeface="Times New Roman" panose="02020603050405020304" pitchFamily="18" charset="0"/>
                <a:sym typeface="Merriweather"/>
              </a:rPr>
              <a:t>-</a:t>
            </a:r>
            <a:r>
              <a:rPr lang="en-US" sz="4700" b="1" i="0" u="none" strike="noStrike" cap="none" dirty="0">
                <a:solidFill>
                  <a:srgbClr val="F5F0F0"/>
                </a:solidFill>
                <a:latin typeface="Times New Roman" panose="02020603050405020304" pitchFamily="18" charset="0"/>
                <a:ea typeface="Merriweather"/>
                <a:cs typeface="Times New Roman" panose="02020603050405020304" pitchFamily="18" charset="0"/>
                <a:sym typeface="Merriweather"/>
              </a:rPr>
              <a:t> </a:t>
            </a:r>
            <a:r>
              <a:rPr lang="en-US" sz="4700" b="1" i="0" u="none" strike="noStrike" cap="none" dirty="0">
                <a:solidFill>
                  <a:schemeClr val="accent1"/>
                </a:solidFill>
                <a:latin typeface="Times New Roman" panose="02020603050405020304" pitchFamily="18" charset="0"/>
                <a:ea typeface="Merriweather"/>
                <a:cs typeface="Times New Roman" panose="02020603050405020304" pitchFamily="18" charset="0"/>
                <a:sym typeface="Merriweather"/>
              </a:rPr>
              <a:t>Key Points</a:t>
            </a:r>
            <a:endParaRPr sz="4700" b="1" i="0" u="none" strike="noStrike" cap="none" dirty="0">
              <a:solidFill>
                <a:schemeClr val="accent1"/>
              </a:solidFill>
              <a:latin typeface="Times New Roman" panose="02020603050405020304" pitchFamily="18" charset="0"/>
              <a:cs typeface="Times New Roman" panose="02020603050405020304" pitchFamily="18" charset="0"/>
            </a:endParaRPr>
          </a:p>
        </p:txBody>
      </p:sp>
      <p:sp>
        <p:nvSpPr>
          <p:cNvPr id="16" name="Google Shape;125;p6">
            <a:extLst>
              <a:ext uri="{FF2B5EF4-FFF2-40B4-BE49-F238E27FC236}">
                <a16:creationId xmlns:a16="http://schemas.microsoft.com/office/drawing/2014/main" id="{7DF0A7E1-952C-826E-37B5-18AF4F4429B6}"/>
              </a:ext>
            </a:extLst>
          </p:cNvPr>
          <p:cNvSpPr/>
          <p:nvPr/>
        </p:nvSpPr>
        <p:spPr>
          <a:xfrm>
            <a:off x="551099" y="1566890"/>
            <a:ext cx="13527347" cy="578752"/>
          </a:xfrm>
          <a:prstGeom prst="rect">
            <a:avLst/>
          </a:prstGeom>
          <a:noFill/>
          <a:ln>
            <a:noFill/>
          </a:ln>
        </p:spPr>
        <p:txBody>
          <a:bodyPr spcFirstLastPara="1" wrap="square" lIns="0" tIns="0" rIns="0" bIns="0" anchor="t" anchorCtr="0">
            <a:noAutofit/>
          </a:bodyPr>
          <a:lstStyle/>
          <a:p>
            <a:pPr lvl="0">
              <a:buSzPts val="2683"/>
            </a:pPr>
            <a:r>
              <a:rPr lang="en-US" sz="2300" b="1" dirty="0">
                <a:solidFill>
                  <a:schemeClr val="bg1"/>
                </a:solidFill>
                <a:latin typeface="Times New Roman" panose="02020603050405020304" pitchFamily="18" charset="0"/>
                <a:cs typeface="Times New Roman" panose="02020603050405020304" pitchFamily="18" charset="0"/>
              </a:rPr>
              <a:t>❓ Are people currently using digital platforms to store medical records?</a:t>
            </a:r>
            <a:endParaRPr sz="2300" b="1" i="0" u="none" strike="noStrike" cap="none" dirty="0">
              <a:solidFill>
                <a:schemeClr val="bg1"/>
              </a:solidFill>
              <a:latin typeface="Times New Roman" panose="02020603050405020304" pitchFamily="18" charset="0"/>
              <a:cs typeface="Times New Roman" panose="02020603050405020304" pitchFamily="18" charset="0"/>
            </a:endParaRPr>
          </a:p>
        </p:txBody>
      </p:sp>
      <p:sp>
        <p:nvSpPr>
          <p:cNvPr id="17" name="Google Shape;126;p6">
            <a:extLst>
              <a:ext uri="{FF2B5EF4-FFF2-40B4-BE49-F238E27FC236}">
                <a16:creationId xmlns:a16="http://schemas.microsoft.com/office/drawing/2014/main" id="{4066D668-C217-1E0E-DECE-739769CE7784}"/>
              </a:ext>
            </a:extLst>
          </p:cNvPr>
          <p:cNvSpPr/>
          <p:nvPr/>
        </p:nvSpPr>
        <p:spPr>
          <a:xfrm>
            <a:off x="711240" y="2148512"/>
            <a:ext cx="13821160" cy="1053016"/>
          </a:xfrm>
          <a:prstGeom prst="rect">
            <a:avLst/>
          </a:prstGeom>
          <a:noFill/>
          <a:ln>
            <a:noFill/>
          </a:ln>
        </p:spPr>
        <p:txBody>
          <a:bodyPr spcFirstLastPara="1" wrap="square" lIns="0" tIns="0" rIns="0" bIns="0" anchor="t" anchorCtr="0">
            <a:noAutofit/>
          </a:bodyPr>
          <a:lstStyle/>
          <a:p>
            <a:pPr lvl="0">
              <a:buClr>
                <a:srgbClr val="E2E6E9"/>
              </a:buClr>
              <a:buSzPts val="1752"/>
            </a:pPr>
            <a:r>
              <a:rPr lang="en-US" sz="2100" b="1" dirty="0">
                <a:solidFill>
                  <a:schemeClr val="bg1"/>
                </a:solidFill>
                <a:latin typeface="Times New Roman" panose="02020603050405020304" pitchFamily="18" charset="0"/>
                <a:cs typeface="Times New Roman" panose="02020603050405020304" pitchFamily="18" charset="0"/>
              </a:rPr>
              <a:t>According to our survey, 80% of respondents reported that they are not currently using any digital platform to manage medical records. Most medical reports are stored as physical documents or scattered files, making it difficult to maintain a centralized health history.</a:t>
            </a:r>
            <a:endParaRPr sz="2100" b="1" i="0" u="none" strike="noStrike" cap="none" dirty="0">
              <a:solidFill>
                <a:schemeClr val="bg1"/>
              </a:solidFill>
              <a:latin typeface="Times New Roman" panose="02020603050405020304" pitchFamily="18" charset="0"/>
              <a:cs typeface="Times New Roman" panose="02020603050405020304" pitchFamily="18" charset="0"/>
            </a:endParaRPr>
          </a:p>
        </p:txBody>
      </p:sp>
      <p:sp>
        <p:nvSpPr>
          <p:cNvPr id="21" name="Google Shape;127;p6">
            <a:extLst>
              <a:ext uri="{FF2B5EF4-FFF2-40B4-BE49-F238E27FC236}">
                <a16:creationId xmlns:a16="http://schemas.microsoft.com/office/drawing/2014/main" id="{6AFE8322-2069-9C3E-E196-C6E1095ED420}"/>
              </a:ext>
            </a:extLst>
          </p:cNvPr>
          <p:cNvSpPr/>
          <p:nvPr/>
        </p:nvSpPr>
        <p:spPr>
          <a:xfrm>
            <a:off x="598454" y="3265088"/>
            <a:ext cx="14327700" cy="33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E2E6E9"/>
              </a:buClr>
              <a:buSzPts val="1752"/>
              <a:buFont typeface="Merriweather"/>
              <a:buNone/>
            </a:pPr>
            <a:endParaRPr lang="en-US" sz="2300" b="1" i="0" u="none" strike="noStrike" cap="none" dirty="0">
              <a:latin typeface="Times New Roman" panose="02020603050405020304" pitchFamily="18" charset="0"/>
              <a:cs typeface="Times New Roman" panose="02020603050405020304" pitchFamily="18" charset="0"/>
            </a:endParaRPr>
          </a:p>
        </p:txBody>
      </p:sp>
      <p:sp>
        <p:nvSpPr>
          <p:cNvPr id="22" name="Google Shape;128;p6">
            <a:extLst>
              <a:ext uri="{FF2B5EF4-FFF2-40B4-BE49-F238E27FC236}">
                <a16:creationId xmlns:a16="http://schemas.microsoft.com/office/drawing/2014/main" id="{2C362E16-C3BD-F950-97ED-9A0F943981EB}"/>
              </a:ext>
            </a:extLst>
          </p:cNvPr>
          <p:cNvSpPr/>
          <p:nvPr/>
        </p:nvSpPr>
        <p:spPr>
          <a:xfrm>
            <a:off x="575202" y="3374136"/>
            <a:ext cx="11426722" cy="502694"/>
          </a:xfrm>
          <a:prstGeom prst="rect">
            <a:avLst/>
          </a:prstGeom>
          <a:noFill/>
          <a:ln>
            <a:noFill/>
          </a:ln>
        </p:spPr>
        <p:txBody>
          <a:bodyPr spcFirstLastPara="1" wrap="square" lIns="0" tIns="0" rIns="0" bIns="0" anchor="t" anchorCtr="0">
            <a:noAutofit/>
          </a:bodyPr>
          <a:lstStyle/>
          <a:p>
            <a:pPr lvl="0">
              <a:buSzPts val="2683"/>
            </a:pPr>
            <a:r>
              <a:rPr lang="en-US" sz="2300" b="1" dirty="0">
                <a:solidFill>
                  <a:schemeClr val="bg1"/>
                </a:solidFill>
                <a:latin typeface="Times New Roman" panose="02020603050405020304" pitchFamily="18" charset="0"/>
                <a:cs typeface="Times New Roman" panose="02020603050405020304" pitchFamily="18" charset="0"/>
              </a:rPr>
              <a:t>❓ Do people regularly monitor their health through checkups?</a:t>
            </a:r>
            <a:endParaRPr sz="2300" b="1" i="0" u="none" strike="noStrike" cap="none" dirty="0">
              <a:solidFill>
                <a:schemeClr val="bg1"/>
              </a:solidFill>
              <a:latin typeface="Times New Roman" panose="02020603050405020304" pitchFamily="18" charset="0"/>
              <a:cs typeface="Times New Roman" panose="02020603050405020304" pitchFamily="18" charset="0"/>
            </a:endParaRPr>
          </a:p>
        </p:txBody>
      </p:sp>
      <p:sp>
        <p:nvSpPr>
          <p:cNvPr id="23" name="Google Shape;129;p6">
            <a:extLst>
              <a:ext uri="{FF2B5EF4-FFF2-40B4-BE49-F238E27FC236}">
                <a16:creationId xmlns:a16="http://schemas.microsoft.com/office/drawing/2014/main" id="{B6DA8469-D2B1-9B84-F912-BEAAE5126292}"/>
              </a:ext>
            </a:extLst>
          </p:cNvPr>
          <p:cNvSpPr/>
          <p:nvPr/>
        </p:nvSpPr>
        <p:spPr>
          <a:xfrm>
            <a:off x="598454" y="3836356"/>
            <a:ext cx="13174200" cy="921300"/>
          </a:xfrm>
          <a:prstGeom prst="rect">
            <a:avLst/>
          </a:prstGeom>
          <a:noFill/>
          <a:ln>
            <a:noFill/>
          </a:ln>
        </p:spPr>
        <p:txBody>
          <a:bodyPr spcFirstLastPara="1" wrap="square" lIns="0" tIns="0" rIns="0" bIns="0" anchor="t" anchorCtr="0">
            <a:noAutofit/>
          </a:bodyPr>
          <a:lstStyle/>
          <a:p>
            <a:pPr lvl="0">
              <a:buClr>
                <a:srgbClr val="E2E6E9"/>
              </a:buClr>
              <a:buSzPts val="1752"/>
            </a:pPr>
            <a:r>
              <a:rPr lang="en-US" sz="2100" b="1" dirty="0">
                <a:solidFill>
                  <a:schemeClr val="bg1"/>
                </a:solidFill>
                <a:latin typeface="Times New Roman" panose="02020603050405020304" pitchFamily="18" charset="0"/>
                <a:cs typeface="Times New Roman" panose="02020603050405020304" pitchFamily="18" charset="0"/>
              </a:rPr>
              <a:t>Survey responses indicate that regular health monitoring is not consistently practiced by many individuals. Without proper tracking of previous reports, it becomes difficult to observe changes in health indicators over time.</a:t>
            </a:r>
            <a:endParaRPr sz="2100" b="1" i="0" u="none" strike="noStrike" cap="none" dirty="0">
              <a:solidFill>
                <a:schemeClr val="bg1"/>
              </a:solidFill>
              <a:latin typeface="Times New Roman" panose="02020603050405020304" pitchFamily="18" charset="0"/>
              <a:cs typeface="Times New Roman" panose="02020603050405020304" pitchFamily="18" charset="0"/>
            </a:endParaRPr>
          </a:p>
        </p:txBody>
      </p:sp>
      <p:sp>
        <p:nvSpPr>
          <p:cNvPr id="24" name="Google Shape;130;p6">
            <a:extLst>
              <a:ext uri="{FF2B5EF4-FFF2-40B4-BE49-F238E27FC236}">
                <a16:creationId xmlns:a16="http://schemas.microsoft.com/office/drawing/2014/main" id="{AD319D46-792C-7BAB-35A2-801A21A03BCC}"/>
              </a:ext>
            </a:extLst>
          </p:cNvPr>
          <p:cNvSpPr/>
          <p:nvPr/>
        </p:nvSpPr>
        <p:spPr>
          <a:xfrm>
            <a:off x="574775" y="4823288"/>
            <a:ext cx="11922022" cy="490968"/>
          </a:xfrm>
          <a:prstGeom prst="rect">
            <a:avLst/>
          </a:prstGeom>
          <a:noFill/>
          <a:ln>
            <a:noFill/>
          </a:ln>
        </p:spPr>
        <p:txBody>
          <a:bodyPr spcFirstLastPara="1" wrap="square" lIns="0" tIns="0" rIns="0" bIns="0" anchor="t" anchorCtr="0">
            <a:noAutofit/>
          </a:bodyPr>
          <a:lstStyle/>
          <a:p>
            <a:pPr lvl="0">
              <a:buSzPts val="2683"/>
            </a:pPr>
            <a:r>
              <a:rPr lang="en-US" sz="2300" b="1" dirty="0">
                <a:solidFill>
                  <a:schemeClr val="bg1"/>
                </a:solidFill>
                <a:latin typeface="Times New Roman" panose="02020603050405020304" pitchFamily="18" charset="0"/>
                <a:cs typeface="Times New Roman" panose="02020603050405020304" pitchFamily="18" charset="0"/>
              </a:rPr>
              <a:t>❓ Do users find it difficult to organize or track medical reports?</a:t>
            </a:r>
            <a:endParaRPr sz="2300" b="1" i="0" u="none" strike="noStrike" cap="none" dirty="0">
              <a:solidFill>
                <a:schemeClr val="bg1"/>
              </a:solidFill>
              <a:latin typeface="Times New Roman" panose="02020603050405020304" pitchFamily="18" charset="0"/>
              <a:cs typeface="Times New Roman" panose="02020603050405020304" pitchFamily="18" charset="0"/>
            </a:endParaRPr>
          </a:p>
        </p:txBody>
      </p:sp>
      <p:sp>
        <p:nvSpPr>
          <p:cNvPr id="25" name="Google Shape;131;p6">
            <a:extLst>
              <a:ext uri="{FF2B5EF4-FFF2-40B4-BE49-F238E27FC236}">
                <a16:creationId xmlns:a16="http://schemas.microsoft.com/office/drawing/2014/main" id="{C8845506-1D80-5F39-CE33-28F491FD7E8A}"/>
              </a:ext>
            </a:extLst>
          </p:cNvPr>
          <p:cNvSpPr/>
          <p:nvPr/>
        </p:nvSpPr>
        <p:spPr>
          <a:xfrm>
            <a:off x="722391" y="5314256"/>
            <a:ext cx="13738535" cy="340189"/>
          </a:xfrm>
          <a:prstGeom prst="rect">
            <a:avLst/>
          </a:prstGeom>
          <a:noFill/>
          <a:ln>
            <a:noFill/>
          </a:ln>
        </p:spPr>
        <p:txBody>
          <a:bodyPr spcFirstLastPara="1" wrap="square" lIns="0" tIns="0" rIns="0" bIns="0" anchor="t" anchorCtr="0">
            <a:noAutofit/>
          </a:bodyPr>
          <a:lstStyle/>
          <a:p>
            <a:pPr lvl="0">
              <a:buClr>
                <a:srgbClr val="E2E6E9"/>
              </a:buClr>
              <a:buSzPts val="1752"/>
            </a:pPr>
            <a:r>
              <a:rPr lang="en-US" sz="2100" b="1" dirty="0">
                <a:solidFill>
                  <a:schemeClr val="bg1"/>
                </a:solidFill>
                <a:latin typeface="Times New Roman" panose="02020603050405020304" pitchFamily="18" charset="0"/>
                <a:cs typeface="Times New Roman" panose="02020603050405020304" pitchFamily="18" charset="0"/>
              </a:rPr>
              <a:t>Around 66.7% of respondents reported difficulty in organizing or tracking their medical records. Managing multiple reports from different hospitals or laboratories can become confusing and time-consuming.</a:t>
            </a:r>
            <a:endParaRPr sz="2100" b="1" i="0" u="none" strike="noStrike" cap="none" dirty="0">
              <a:solidFill>
                <a:schemeClr val="bg1"/>
              </a:solidFill>
              <a:latin typeface="Times New Roman" panose="02020603050405020304" pitchFamily="18" charset="0"/>
              <a:cs typeface="Times New Roman" panose="02020603050405020304" pitchFamily="18" charset="0"/>
            </a:endParaRPr>
          </a:p>
        </p:txBody>
      </p:sp>
      <p:sp>
        <p:nvSpPr>
          <p:cNvPr id="26" name="Google Shape;132;p6">
            <a:extLst>
              <a:ext uri="{FF2B5EF4-FFF2-40B4-BE49-F238E27FC236}">
                <a16:creationId xmlns:a16="http://schemas.microsoft.com/office/drawing/2014/main" id="{A3EB9083-BEEC-7FC6-084D-AEF3CD68FC56}"/>
              </a:ext>
            </a:extLst>
          </p:cNvPr>
          <p:cNvSpPr/>
          <p:nvPr/>
        </p:nvSpPr>
        <p:spPr>
          <a:xfrm>
            <a:off x="574775" y="6261597"/>
            <a:ext cx="13174200" cy="506364"/>
          </a:xfrm>
          <a:prstGeom prst="rect">
            <a:avLst/>
          </a:prstGeom>
          <a:noFill/>
          <a:ln>
            <a:noFill/>
          </a:ln>
        </p:spPr>
        <p:txBody>
          <a:bodyPr spcFirstLastPara="1" wrap="square" lIns="0" tIns="0" rIns="0" bIns="0" anchor="t" anchorCtr="0">
            <a:noAutofit/>
          </a:bodyPr>
          <a:lstStyle/>
          <a:p>
            <a:pPr lvl="0">
              <a:buSzPts val="2683"/>
            </a:pPr>
            <a:r>
              <a:rPr lang="en-US" sz="2300" b="1" dirty="0">
                <a:solidFill>
                  <a:schemeClr val="bg1"/>
                </a:solidFill>
                <a:latin typeface="Times New Roman" panose="02020603050405020304" pitchFamily="18" charset="0"/>
                <a:cs typeface="Times New Roman" panose="02020603050405020304" pitchFamily="18" charset="0"/>
              </a:rPr>
              <a:t>❓ Would an automated system that analyzes medical reports be useful?</a:t>
            </a:r>
            <a:endParaRPr sz="2300" b="1" i="0" u="none" strike="noStrike" cap="none" dirty="0">
              <a:solidFill>
                <a:schemeClr val="bg1"/>
              </a:solidFill>
              <a:latin typeface="Times New Roman" panose="02020603050405020304" pitchFamily="18" charset="0"/>
              <a:cs typeface="Times New Roman" panose="02020603050405020304" pitchFamily="18" charset="0"/>
            </a:endParaRPr>
          </a:p>
        </p:txBody>
      </p:sp>
      <p:sp>
        <p:nvSpPr>
          <p:cNvPr id="27" name="Google Shape;133;p6">
            <a:extLst>
              <a:ext uri="{FF2B5EF4-FFF2-40B4-BE49-F238E27FC236}">
                <a16:creationId xmlns:a16="http://schemas.microsoft.com/office/drawing/2014/main" id="{6FAF6748-371F-5BF8-CF18-BFA393A5B43D}"/>
              </a:ext>
            </a:extLst>
          </p:cNvPr>
          <p:cNvSpPr/>
          <p:nvPr/>
        </p:nvSpPr>
        <p:spPr>
          <a:xfrm>
            <a:off x="711240" y="6831551"/>
            <a:ext cx="13504095" cy="254317"/>
          </a:xfrm>
          <a:prstGeom prst="rect">
            <a:avLst/>
          </a:prstGeom>
          <a:noFill/>
          <a:ln>
            <a:noFill/>
          </a:ln>
        </p:spPr>
        <p:txBody>
          <a:bodyPr spcFirstLastPara="1" wrap="square" lIns="0" tIns="0" rIns="0" bIns="0" anchor="t" anchorCtr="0">
            <a:noAutofit/>
          </a:bodyPr>
          <a:lstStyle/>
          <a:p>
            <a:pPr lvl="0">
              <a:buClr>
                <a:srgbClr val="E2E6E9"/>
              </a:buClr>
              <a:buSzPts val="1752"/>
            </a:pPr>
            <a:r>
              <a:rPr lang="en-US" sz="2100" b="1" dirty="0">
                <a:solidFill>
                  <a:schemeClr val="bg1"/>
                </a:solidFill>
                <a:latin typeface="Times New Roman" panose="02020603050405020304" pitchFamily="18" charset="0"/>
                <a:cs typeface="Times New Roman" panose="02020603050405020304" pitchFamily="18" charset="0"/>
              </a:rPr>
              <a:t>The survey shows that 100% of respondents believe that an automated system capable of analyzing medical reports and providing health insights would be useful.</a:t>
            </a:r>
            <a:endParaRPr sz="2100" b="1" i="0" u="none" strike="noStrike" cap="none"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437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6322A-A3E0-E27F-16F8-3F2EDCDE911E}"/>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403738A8-0D47-893D-9AFB-2FC91D04B4DC}"/>
              </a:ext>
            </a:extLst>
          </p:cNvPr>
          <p:cNvPicPr>
            <a:picLocks noChangeAspect="1"/>
          </p:cNvPicPr>
          <p:nvPr/>
        </p:nvPicPr>
        <p:blipFill>
          <a:blip r:embed="rId3">
            <a:alphaModFix amt="15000"/>
          </a:blip>
          <a:stretch>
            <a:fillRect/>
          </a:stretch>
        </p:blipFill>
        <p:spPr>
          <a:xfrm>
            <a:off x="-259826" y="-21589"/>
            <a:ext cx="15149198" cy="8268937"/>
          </a:xfrm>
          <a:prstGeom prst="rect">
            <a:avLst/>
          </a:prstGeom>
        </p:spPr>
      </p:pic>
      <p:pic>
        <p:nvPicPr>
          <p:cNvPr id="18" name="Picture 17">
            <a:extLst>
              <a:ext uri="{FF2B5EF4-FFF2-40B4-BE49-F238E27FC236}">
                <a16:creationId xmlns:a16="http://schemas.microsoft.com/office/drawing/2014/main" id="{9E8D61A6-25F9-3959-2543-068DBEDDC92C}"/>
              </a:ext>
            </a:extLst>
          </p:cNvPr>
          <p:cNvPicPr>
            <a:picLocks noChangeAspect="1"/>
          </p:cNvPicPr>
          <p:nvPr/>
        </p:nvPicPr>
        <p:blipFill>
          <a:blip r:embed="rId4"/>
          <a:stretch>
            <a:fillRect/>
          </a:stretch>
        </p:blipFill>
        <p:spPr>
          <a:xfrm>
            <a:off x="12557525" y="7674421"/>
            <a:ext cx="2072875" cy="525317"/>
          </a:xfrm>
          <a:prstGeom prst="rect">
            <a:avLst/>
          </a:prstGeom>
        </p:spPr>
      </p:pic>
      <p:sp>
        <p:nvSpPr>
          <p:cNvPr id="15" name="Google Shape;124;p6">
            <a:extLst>
              <a:ext uri="{FF2B5EF4-FFF2-40B4-BE49-F238E27FC236}">
                <a16:creationId xmlns:a16="http://schemas.microsoft.com/office/drawing/2014/main" id="{F852D264-F052-5FEA-E2B1-557681AF1BCC}"/>
              </a:ext>
            </a:extLst>
          </p:cNvPr>
          <p:cNvSpPr/>
          <p:nvPr/>
        </p:nvSpPr>
        <p:spPr>
          <a:xfrm>
            <a:off x="574775" y="390415"/>
            <a:ext cx="8012100" cy="651900"/>
          </a:xfrm>
          <a:prstGeom prst="rect">
            <a:avLst/>
          </a:prstGeom>
          <a:noFill/>
          <a:ln>
            <a:noFill/>
          </a:ln>
        </p:spPr>
        <p:txBody>
          <a:bodyPr spcFirstLastPara="1" wrap="square" lIns="0" tIns="0" rIns="0" bIns="0" anchor="t" anchorCtr="0">
            <a:noAutofit/>
          </a:bodyPr>
          <a:lstStyle/>
          <a:p>
            <a:pPr marL="0" marR="0" lvl="0" indent="0" algn="l" rtl="0">
              <a:lnSpc>
                <a:spcPct val="124390"/>
              </a:lnSpc>
              <a:spcBef>
                <a:spcPts val="0"/>
              </a:spcBef>
              <a:spcAft>
                <a:spcPts val="0"/>
              </a:spcAft>
              <a:buClr>
                <a:srgbClr val="F5F0F0"/>
              </a:buClr>
              <a:buSzPts val="4100"/>
              <a:buFont typeface="Merriweather"/>
              <a:buNone/>
            </a:pPr>
            <a:endParaRPr sz="4100" b="0" i="0" u="none" strike="noStrike" cap="none" dirty="0"/>
          </a:p>
        </p:txBody>
      </p:sp>
      <p:sp>
        <p:nvSpPr>
          <p:cNvPr id="2" name="Google Shape;124;p6">
            <a:extLst>
              <a:ext uri="{FF2B5EF4-FFF2-40B4-BE49-F238E27FC236}">
                <a16:creationId xmlns:a16="http://schemas.microsoft.com/office/drawing/2014/main" id="{B77406DD-ACD6-A888-3ACF-361FBBBA5032}"/>
              </a:ext>
            </a:extLst>
          </p:cNvPr>
          <p:cNvSpPr/>
          <p:nvPr/>
        </p:nvSpPr>
        <p:spPr>
          <a:xfrm>
            <a:off x="574775" y="736771"/>
            <a:ext cx="11982750" cy="651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5F0F0"/>
              </a:buClr>
              <a:buSzPts val="4100"/>
              <a:buFont typeface="Merriweather"/>
              <a:buNone/>
            </a:pPr>
            <a:r>
              <a:rPr lang="en-US" sz="4700" b="1" i="0" u="none" strike="noStrike" cap="none" dirty="0">
                <a:solidFill>
                  <a:srgbClr val="F5F0F0"/>
                </a:solidFill>
                <a:latin typeface="Times New Roman" panose="02020603050405020304" pitchFamily="18" charset="0"/>
                <a:ea typeface="Merriweather"/>
                <a:cs typeface="Times New Roman" panose="02020603050405020304" pitchFamily="18" charset="0"/>
                <a:sym typeface="Merriweather"/>
              </a:rPr>
              <a:t>Secondary Research </a:t>
            </a:r>
            <a:r>
              <a:rPr lang="en-US" sz="4700" b="1" dirty="0">
                <a:solidFill>
                  <a:srgbClr val="F5F0F0"/>
                </a:solidFill>
                <a:latin typeface="Times New Roman" panose="02020603050405020304" pitchFamily="18" charset="0"/>
                <a:ea typeface="Merriweather"/>
                <a:cs typeface="Times New Roman" panose="02020603050405020304" pitchFamily="18" charset="0"/>
                <a:sym typeface="Merriweather"/>
              </a:rPr>
              <a:t>-</a:t>
            </a:r>
            <a:r>
              <a:rPr lang="en-US" sz="4700" b="1" i="0" u="none" strike="noStrike" cap="none" dirty="0">
                <a:solidFill>
                  <a:srgbClr val="F5F0F0"/>
                </a:solidFill>
                <a:latin typeface="Times New Roman" panose="02020603050405020304" pitchFamily="18" charset="0"/>
                <a:ea typeface="Merriweather"/>
                <a:cs typeface="Times New Roman" panose="02020603050405020304" pitchFamily="18" charset="0"/>
                <a:sym typeface="Merriweather"/>
              </a:rPr>
              <a:t> </a:t>
            </a:r>
            <a:r>
              <a:rPr lang="en-US" sz="4700" b="1" dirty="0">
                <a:solidFill>
                  <a:schemeClr val="accent1"/>
                </a:solidFill>
                <a:latin typeface="Times New Roman" panose="02020603050405020304" pitchFamily="18" charset="0"/>
                <a:ea typeface="Merriweather"/>
                <a:cs typeface="Times New Roman" panose="02020603050405020304" pitchFamily="18" charset="0"/>
                <a:sym typeface="Merriweather"/>
              </a:rPr>
              <a:t>Summary</a:t>
            </a:r>
            <a:endParaRPr sz="4700" b="1" i="0" u="none" strike="noStrike" cap="none" dirty="0">
              <a:solidFill>
                <a:schemeClr val="accent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ED37AB8-0562-9D88-8D81-FBF6BDC3DC18}"/>
              </a:ext>
            </a:extLst>
          </p:cNvPr>
          <p:cNvSpPr txBox="1"/>
          <p:nvPr/>
        </p:nvSpPr>
        <p:spPr>
          <a:xfrm>
            <a:off x="379141" y="1681756"/>
            <a:ext cx="13269952" cy="579402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500" b="1" dirty="0">
                <a:solidFill>
                  <a:schemeClr val="bg1"/>
                </a:solidFill>
                <a:latin typeface="Times New Roman" panose="02020603050405020304" pitchFamily="18" charset="0"/>
                <a:cs typeface="Times New Roman" panose="02020603050405020304" pitchFamily="18" charset="0"/>
              </a:rPr>
              <a:t>Medical reports are often stored physically, making access difficult.</a:t>
            </a:r>
          </a:p>
          <a:p>
            <a:pPr marL="342900" indent="-342900">
              <a:lnSpc>
                <a:spcPct val="150000"/>
              </a:lnSpc>
              <a:buFont typeface="Arial" panose="020B0604020202020204" pitchFamily="34" charset="0"/>
              <a:buChar char="•"/>
            </a:pPr>
            <a:r>
              <a:rPr lang="en-US" sz="2500" b="1" dirty="0">
                <a:solidFill>
                  <a:schemeClr val="bg1"/>
                </a:solidFill>
                <a:latin typeface="Times New Roman" panose="02020603050405020304" pitchFamily="18" charset="0"/>
                <a:cs typeface="Times New Roman" panose="02020603050405020304" pitchFamily="18" charset="0"/>
              </a:rPr>
              <a:t>Loss or misplacement of records is common.</a:t>
            </a:r>
          </a:p>
          <a:p>
            <a:pPr marL="342900" indent="-342900">
              <a:lnSpc>
                <a:spcPct val="150000"/>
              </a:lnSpc>
              <a:buFont typeface="Arial" panose="020B0604020202020204" pitchFamily="34" charset="0"/>
              <a:buChar char="•"/>
            </a:pPr>
            <a:r>
              <a:rPr lang="en-US" sz="2500" b="1" dirty="0">
                <a:solidFill>
                  <a:schemeClr val="bg1"/>
                </a:solidFill>
                <a:latin typeface="Times New Roman" panose="02020603050405020304" pitchFamily="18" charset="0"/>
                <a:cs typeface="Times New Roman" panose="02020603050405020304" pitchFamily="18" charset="0"/>
              </a:rPr>
              <a:t>Health data is scattered across multiple hospitals and labs.</a:t>
            </a:r>
          </a:p>
          <a:p>
            <a:pPr marL="342900" indent="-342900">
              <a:lnSpc>
                <a:spcPct val="150000"/>
              </a:lnSpc>
              <a:buFont typeface="Arial" panose="020B0604020202020204" pitchFamily="34" charset="0"/>
              <a:buChar char="•"/>
            </a:pPr>
            <a:r>
              <a:rPr lang="en-US" sz="2500" b="1" dirty="0">
                <a:solidFill>
                  <a:schemeClr val="bg1"/>
                </a:solidFill>
                <a:latin typeface="Times New Roman" panose="02020603050405020304" pitchFamily="18" charset="0"/>
                <a:cs typeface="Times New Roman" panose="02020603050405020304" pitchFamily="18" charset="0"/>
              </a:rPr>
              <a:t>Patients lack a centralized platform for medical records.</a:t>
            </a:r>
          </a:p>
          <a:p>
            <a:pPr marL="342900" indent="-342900">
              <a:lnSpc>
                <a:spcPct val="150000"/>
              </a:lnSpc>
              <a:buFont typeface="Arial" panose="020B0604020202020204" pitchFamily="34" charset="0"/>
              <a:buChar char="•"/>
            </a:pPr>
            <a:r>
              <a:rPr lang="en-US" sz="2500" b="1" dirty="0">
                <a:solidFill>
                  <a:schemeClr val="bg1"/>
                </a:solidFill>
                <a:latin typeface="Times New Roman" panose="02020603050405020304" pitchFamily="18" charset="0"/>
                <a:cs typeface="Times New Roman" panose="02020603050405020304" pitchFamily="18" charset="0"/>
              </a:rPr>
              <a:t>Medical reports are hard for patients to understand.</a:t>
            </a:r>
          </a:p>
          <a:p>
            <a:pPr marL="342900" indent="-342900">
              <a:lnSpc>
                <a:spcPct val="150000"/>
              </a:lnSpc>
              <a:buFont typeface="Arial" panose="020B0604020202020204" pitchFamily="34" charset="0"/>
              <a:buChar char="•"/>
            </a:pPr>
            <a:r>
              <a:rPr lang="en-US" sz="2500" b="1" dirty="0">
                <a:solidFill>
                  <a:schemeClr val="bg1"/>
                </a:solidFill>
                <a:latin typeface="Times New Roman" panose="02020603050405020304" pitchFamily="18" charset="0"/>
                <a:cs typeface="Times New Roman" panose="02020603050405020304" pitchFamily="18" charset="0"/>
              </a:rPr>
              <a:t>OCR can digitize scanned medical reports.</a:t>
            </a:r>
          </a:p>
          <a:p>
            <a:pPr marL="342900" indent="-342900">
              <a:lnSpc>
                <a:spcPct val="150000"/>
              </a:lnSpc>
              <a:buFont typeface="Arial" panose="020B0604020202020204" pitchFamily="34" charset="0"/>
              <a:buChar char="•"/>
            </a:pPr>
            <a:r>
              <a:rPr lang="en-US" sz="2500" b="1" dirty="0">
                <a:solidFill>
                  <a:schemeClr val="bg1"/>
                </a:solidFill>
                <a:latin typeface="Times New Roman" panose="02020603050405020304" pitchFamily="18" charset="0"/>
                <a:cs typeface="Times New Roman" panose="02020603050405020304" pitchFamily="18" charset="0"/>
              </a:rPr>
              <a:t>Machine learning can detect health patterns and risks.</a:t>
            </a:r>
          </a:p>
          <a:p>
            <a:pPr marL="342900" indent="-342900">
              <a:lnSpc>
                <a:spcPct val="150000"/>
              </a:lnSpc>
              <a:buFont typeface="Arial" panose="020B0604020202020204" pitchFamily="34" charset="0"/>
              <a:buChar char="•"/>
            </a:pPr>
            <a:r>
              <a:rPr lang="en-US" sz="2500" b="1" dirty="0">
                <a:solidFill>
                  <a:schemeClr val="bg1"/>
                </a:solidFill>
                <a:latin typeface="Times New Roman" panose="02020603050405020304" pitchFamily="18" charset="0"/>
                <a:cs typeface="Times New Roman" panose="02020603050405020304" pitchFamily="18" charset="0"/>
              </a:rPr>
              <a:t>Digital platforms improve health data access and tracking.</a:t>
            </a:r>
          </a:p>
          <a:p>
            <a:pPr marL="342900" indent="-342900">
              <a:lnSpc>
                <a:spcPct val="150000"/>
              </a:lnSpc>
              <a:buFont typeface="Arial" panose="020B0604020202020204" pitchFamily="34" charset="0"/>
              <a:buChar char="•"/>
            </a:pPr>
            <a:r>
              <a:rPr lang="en-US" sz="2500" b="1" dirty="0">
                <a:solidFill>
                  <a:schemeClr val="bg1"/>
                </a:solidFill>
                <a:latin typeface="Times New Roman" panose="02020603050405020304" pitchFamily="18" charset="0"/>
                <a:cs typeface="Times New Roman" panose="02020603050405020304" pitchFamily="18" charset="0"/>
              </a:rPr>
              <a:t>Security measures are required to protect medical data.</a:t>
            </a:r>
          </a:p>
          <a:p>
            <a:pPr marL="342900" indent="-342900">
              <a:lnSpc>
                <a:spcPct val="150000"/>
              </a:lnSpc>
              <a:buFont typeface="Arial" panose="020B0604020202020204" pitchFamily="34" charset="0"/>
              <a:buChar char="•"/>
            </a:pPr>
            <a:r>
              <a:rPr lang="en-US" sz="2500" b="1" dirty="0">
                <a:solidFill>
                  <a:schemeClr val="bg1"/>
                </a:solidFill>
                <a:latin typeface="Times New Roman" panose="02020603050405020304" pitchFamily="18" charset="0"/>
                <a:cs typeface="Times New Roman" panose="02020603050405020304" pitchFamily="18" charset="0"/>
              </a:rPr>
              <a:t>Patient-centric systems help users manage their health better.</a:t>
            </a:r>
            <a:endParaRPr lang="en-IN" sz="25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0386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189A9-7280-473F-F054-0A8A590A49AE}"/>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780406FB-43FC-0F22-9F9E-DF8E4FA5B401}"/>
              </a:ext>
            </a:extLst>
          </p:cNvPr>
          <p:cNvPicPr>
            <a:picLocks noChangeAspect="1"/>
          </p:cNvPicPr>
          <p:nvPr/>
        </p:nvPicPr>
        <p:blipFill>
          <a:blip r:embed="rId3">
            <a:alphaModFix amt="15000"/>
          </a:blip>
          <a:stretch>
            <a:fillRect/>
          </a:stretch>
        </p:blipFill>
        <p:spPr>
          <a:xfrm>
            <a:off x="-259826" y="-21589"/>
            <a:ext cx="15149198" cy="8268937"/>
          </a:xfrm>
          <a:prstGeom prst="rect">
            <a:avLst/>
          </a:prstGeom>
        </p:spPr>
      </p:pic>
      <p:pic>
        <p:nvPicPr>
          <p:cNvPr id="18" name="Picture 17">
            <a:extLst>
              <a:ext uri="{FF2B5EF4-FFF2-40B4-BE49-F238E27FC236}">
                <a16:creationId xmlns:a16="http://schemas.microsoft.com/office/drawing/2014/main" id="{0047663C-A74D-F7DA-E7A1-8A18E0DE6A61}"/>
              </a:ext>
            </a:extLst>
          </p:cNvPr>
          <p:cNvPicPr>
            <a:picLocks noChangeAspect="1"/>
          </p:cNvPicPr>
          <p:nvPr/>
        </p:nvPicPr>
        <p:blipFill>
          <a:blip r:embed="rId4"/>
          <a:stretch>
            <a:fillRect/>
          </a:stretch>
        </p:blipFill>
        <p:spPr>
          <a:xfrm>
            <a:off x="12557525" y="7674421"/>
            <a:ext cx="2072875" cy="525317"/>
          </a:xfrm>
          <a:prstGeom prst="rect">
            <a:avLst/>
          </a:prstGeom>
        </p:spPr>
      </p:pic>
      <p:sp>
        <p:nvSpPr>
          <p:cNvPr id="20" name="Google Shape;104;p5">
            <a:extLst>
              <a:ext uri="{FF2B5EF4-FFF2-40B4-BE49-F238E27FC236}">
                <a16:creationId xmlns:a16="http://schemas.microsoft.com/office/drawing/2014/main" id="{5621970D-0534-0EC5-EAEA-CB7FAF90A0B6}"/>
              </a:ext>
            </a:extLst>
          </p:cNvPr>
          <p:cNvSpPr/>
          <p:nvPr/>
        </p:nvSpPr>
        <p:spPr>
          <a:xfrm>
            <a:off x="863798" y="629246"/>
            <a:ext cx="11637645" cy="771287"/>
          </a:xfrm>
          <a:prstGeom prst="rect">
            <a:avLst/>
          </a:prstGeom>
          <a:noFill/>
          <a:ln>
            <a:noFill/>
          </a:ln>
        </p:spPr>
        <p:txBody>
          <a:bodyPr spcFirstLastPara="1" wrap="square" lIns="0" tIns="0" rIns="0" bIns="0" anchor="t" anchorCtr="0">
            <a:noAutofit/>
          </a:bodyPr>
          <a:lstStyle/>
          <a:p>
            <a:pPr marL="0" marR="0" lvl="0" indent="0" algn="l" rtl="0">
              <a:lnSpc>
                <a:spcPct val="124742"/>
              </a:lnSpc>
              <a:spcBef>
                <a:spcPts val="0"/>
              </a:spcBef>
              <a:spcAft>
                <a:spcPts val="0"/>
              </a:spcAft>
              <a:buClr>
                <a:srgbClr val="F5F0F0"/>
              </a:buClr>
              <a:buSzPts val="4850"/>
              <a:buFont typeface="Merriweather"/>
              <a:buNone/>
            </a:pPr>
            <a:endParaRPr sz="4700" b="0" i="0" u="none" strike="noStrike" cap="none" dirty="0"/>
          </a:p>
        </p:txBody>
      </p:sp>
      <p:sp>
        <p:nvSpPr>
          <p:cNvPr id="2" name="Text 0">
            <a:extLst>
              <a:ext uri="{FF2B5EF4-FFF2-40B4-BE49-F238E27FC236}">
                <a16:creationId xmlns:a16="http://schemas.microsoft.com/office/drawing/2014/main" id="{91BAA7D2-90BD-69E3-812E-0B64DD1A8B95}"/>
              </a:ext>
            </a:extLst>
          </p:cNvPr>
          <p:cNvSpPr/>
          <p:nvPr/>
        </p:nvSpPr>
        <p:spPr>
          <a:xfrm>
            <a:off x="733553" y="1330379"/>
            <a:ext cx="4764881" cy="56328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4400"/>
              </a:lnSpc>
              <a:buNone/>
            </a:pPr>
            <a:r>
              <a:rPr lang="en-US" sz="3500" b="1" dirty="0">
                <a:solidFill>
                  <a:schemeClr val="bg1"/>
                </a:solidFill>
                <a:latin typeface="Times New Roman" panose="02020603050405020304" pitchFamily="18" charset="0"/>
                <a:ea typeface="Unbounded" pitchFamily="34" charset="-122"/>
                <a:cs typeface="Times New Roman" panose="02020603050405020304" pitchFamily="18" charset="0"/>
              </a:rPr>
              <a:t>Technology Stack</a:t>
            </a:r>
            <a:endParaRPr lang="en-US" sz="3500" b="1" dirty="0">
              <a:solidFill>
                <a:schemeClr val="bg1"/>
              </a:solidFill>
              <a:latin typeface="Times New Roman" panose="02020603050405020304" pitchFamily="18" charset="0"/>
              <a:cs typeface="Times New Roman" panose="02020603050405020304" pitchFamily="18" charset="0"/>
            </a:endParaRPr>
          </a:p>
        </p:txBody>
      </p:sp>
      <p:sp>
        <p:nvSpPr>
          <p:cNvPr id="15" name="Shape 1">
            <a:extLst>
              <a:ext uri="{FF2B5EF4-FFF2-40B4-BE49-F238E27FC236}">
                <a16:creationId xmlns:a16="http://schemas.microsoft.com/office/drawing/2014/main" id="{42AE7A49-950C-C3CC-4F6A-13BBED796592}"/>
              </a:ext>
            </a:extLst>
          </p:cNvPr>
          <p:cNvSpPr/>
          <p:nvPr/>
        </p:nvSpPr>
        <p:spPr>
          <a:xfrm>
            <a:off x="589373" y="2557771"/>
            <a:ext cx="13450799" cy="4039208"/>
          </a:xfrm>
          <a:prstGeom prst="roundRect">
            <a:avLst>
              <a:gd name="adj" fmla="val 1699"/>
            </a:avLst>
          </a:prstGeom>
          <a:solidFill>
            <a:srgbClr val="304755"/>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500" b="1" dirty="0">
              <a:solidFill>
                <a:schemeClr val="bg1"/>
              </a:solidFill>
              <a:latin typeface="Times New Roman" panose="02020603050405020304" pitchFamily="18" charset="0"/>
              <a:cs typeface="Times New Roman" panose="02020603050405020304" pitchFamily="18" charset="0"/>
            </a:endParaRPr>
          </a:p>
        </p:txBody>
      </p:sp>
      <p:sp>
        <p:nvSpPr>
          <p:cNvPr id="16" name="Text 1">
            <a:extLst>
              <a:ext uri="{FF2B5EF4-FFF2-40B4-BE49-F238E27FC236}">
                <a16:creationId xmlns:a16="http://schemas.microsoft.com/office/drawing/2014/main" id="{1F73E0AB-3B46-9B04-A8F7-AB806682B154}"/>
              </a:ext>
            </a:extLst>
          </p:cNvPr>
          <p:cNvSpPr/>
          <p:nvPr/>
        </p:nvSpPr>
        <p:spPr>
          <a:xfrm>
            <a:off x="1020630" y="2772506"/>
            <a:ext cx="2816185" cy="35194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500" b="1" dirty="0">
                <a:solidFill>
                  <a:schemeClr val="bg1"/>
                </a:solidFill>
                <a:latin typeface="Times New Roman" panose="02020603050405020304" pitchFamily="18" charset="0"/>
                <a:ea typeface="Unbounded" pitchFamily="34" charset="-122"/>
                <a:cs typeface="Times New Roman" panose="02020603050405020304" pitchFamily="18" charset="0"/>
              </a:rPr>
              <a:t>Frontend:</a:t>
            </a:r>
            <a:endParaRPr lang="en-US" sz="2500" b="1" dirty="0">
              <a:solidFill>
                <a:schemeClr val="bg1"/>
              </a:solidFill>
              <a:latin typeface="Times New Roman" panose="02020603050405020304" pitchFamily="18" charset="0"/>
              <a:cs typeface="Times New Roman" panose="02020603050405020304" pitchFamily="18" charset="0"/>
            </a:endParaRPr>
          </a:p>
        </p:txBody>
      </p:sp>
      <p:sp>
        <p:nvSpPr>
          <p:cNvPr id="17" name="Text 2">
            <a:extLst>
              <a:ext uri="{FF2B5EF4-FFF2-40B4-BE49-F238E27FC236}">
                <a16:creationId xmlns:a16="http://schemas.microsoft.com/office/drawing/2014/main" id="{5258A344-3D44-5D7C-EF0E-2DBC992BE403}"/>
              </a:ext>
            </a:extLst>
          </p:cNvPr>
          <p:cNvSpPr/>
          <p:nvPr/>
        </p:nvSpPr>
        <p:spPr>
          <a:xfrm>
            <a:off x="1020630" y="3363770"/>
            <a:ext cx="6185535" cy="38302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3000"/>
              </a:lnSpc>
              <a:buSzPct val="100000"/>
              <a:buChar char="•"/>
            </a:pPr>
            <a:r>
              <a:rPr lang="en-US" sz="2500" b="1" dirty="0">
                <a:solidFill>
                  <a:schemeClr val="bg1"/>
                </a:solidFill>
                <a:latin typeface="Times New Roman" panose="02020603050405020304" pitchFamily="18" charset="0"/>
                <a:ea typeface="Cabin" pitchFamily="34" charset="-122"/>
                <a:cs typeface="Times New Roman" panose="02020603050405020304" pitchFamily="18" charset="0"/>
              </a:rPr>
              <a:t>HTML, CSS, JavaScript, React</a:t>
            </a:r>
            <a:endParaRPr lang="en-US" sz="2500" b="1" dirty="0">
              <a:solidFill>
                <a:schemeClr val="bg1"/>
              </a:solidFill>
              <a:latin typeface="Times New Roman" panose="02020603050405020304" pitchFamily="18" charset="0"/>
              <a:cs typeface="Times New Roman" panose="02020603050405020304" pitchFamily="18" charset="0"/>
            </a:endParaRPr>
          </a:p>
        </p:txBody>
      </p:sp>
      <p:sp>
        <p:nvSpPr>
          <p:cNvPr id="21" name="Text 3">
            <a:extLst>
              <a:ext uri="{FF2B5EF4-FFF2-40B4-BE49-F238E27FC236}">
                <a16:creationId xmlns:a16="http://schemas.microsoft.com/office/drawing/2014/main" id="{ED703604-C07C-33F3-62DE-8BB37B08F6C3}"/>
              </a:ext>
            </a:extLst>
          </p:cNvPr>
          <p:cNvSpPr/>
          <p:nvPr/>
        </p:nvSpPr>
        <p:spPr>
          <a:xfrm>
            <a:off x="1020630" y="3986110"/>
            <a:ext cx="2816185" cy="35194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500" b="1" dirty="0">
                <a:solidFill>
                  <a:schemeClr val="bg1"/>
                </a:solidFill>
                <a:latin typeface="Times New Roman" panose="02020603050405020304" pitchFamily="18" charset="0"/>
                <a:ea typeface="Unbounded" pitchFamily="34" charset="-122"/>
                <a:cs typeface="Times New Roman" panose="02020603050405020304" pitchFamily="18" charset="0"/>
              </a:rPr>
              <a:t>Backend:</a:t>
            </a:r>
            <a:endParaRPr lang="en-US" sz="2500" b="1" dirty="0">
              <a:solidFill>
                <a:schemeClr val="bg1"/>
              </a:solidFill>
              <a:latin typeface="Times New Roman" panose="02020603050405020304" pitchFamily="18" charset="0"/>
              <a:cs typeface="Times New Roman" panose="02020603050405020304" pitchFamily="18" charset="0"/>
            </a:endParaRPr>
          </a:p>
        </p:txBody>
      </p:sp>
      <p:sp>
        <p:nvSpPr>
          <p:cNvPr id="22" name="Text 4">
            <a:extLst>
              <a:ext uri="{FF2B5EF4-FFF2-40B4-BE49-F238E27FC236}">
                <a16:creationId xmlns:a16="http://schemas.microsoft.com/office/drawing/2014/main" id="{EA57014C-3B6D-F189-2E7B-3E04F02719AC}"/>
              </a:ext>
            </a:extLst>
          </p:cNvPr>
          <p:cNvSpPr/>
          <p:nvPr/>
        </p:nvSpPr>
        <p:spPr>
          <a:xfrm>
            <a:off x="1020630" y="4577375"/>
            <a:ext cx="6185535" cy="38302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3000"/>
              </a:lnSpc>
              <a:buSzPct val="100000"/>
              <a:buChar char="•"/>
            </a:pPr>
            <a:r>
              <a:rPr lang="en-US" sz="2500" b="1" dirty="0">
                <a:solidFill>
                  <a:schemeClr val="bg1"/>
                </a:solidFill>
                <a:latin typeface="Times New Roman" panose="02020603050405020304" pitchFamily="18" charset="0"/>
                <a:ea typeface="Cabin" pitchFamily="34" charset="-122"/>
                <a:cs typeface="Times New Roman" panose="02020603050405020304" pitchFamily="18" charset="0"/>
              </a:rPr>
              <a:t>Python, Flask or FastAPI</a:t>
            </a:r>
            <a:endParaRPr lang="en-US" sz="2500" b="1" dirty="0">
              <a:solidFill>
                <a:schemeClr val="bg1"/>
              </a:solidFill>
              <a:latin typeface="Times New Roman" panose="02020603050405020304" pitchFamily="18" charset="0"/>
              <a:cs typeface="Times New Roman" panose="02020603050405020304" pitchFamily="18" charset="0"/>
            </a:endParaRPr>
          </a:p>
        </p:txBody>
      </p:sp>
      <p:sp>
        <p:nvSpPr>
          <p:cNvPr id="23" name="Text 5">
            <a:extLst>
              <a:ext uri="{FF2B5EF4-FFF2-40B4-BE49-F238E27FC236}">
                <a16:creationId xmlns:a16="http://schemas.microsoft.com/office/drawing/2014/main" id="{83F84B4D-053F-0196-6973-7E2C93EF87A4}"/>
              </a:ext>
            </a:extLst>
          </p:cNvPr>
          <p:cNvSpPr/>
          <p:nvPr/>
        </p:nvSpPr>
        <p:spPr>
          <a:xfrm>
            <a:off x="1020630" y="5199714"/>
            <a:ext cx="2816185" cy="35194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500" b="1" dirty="0">
                <a:solidFill>
                  <a:schemeClr val="bg1"/>
                </a:solidFill>
                <a:latin typeface="Times New Roman" panose="02020603050405020304" pitchFamily="18" charset="0"/>
                <a:ea typeface="Unbounded" pitchFamily="34" charset="-122"/>
                <a:cs typeface="Times New Roman" panose="02020603050405020304" pitchFamily="18" charset="0"/>
              </a:rPr>
              <a:t>Database:</a:t>
            </a:r>
            <a:endParaRPr lang="en-US" sz="2500" b="1" dirty="0">
              <a:solidFill>
                <a:schemeClr val="bg1"/>
              </a:solidFill>
              <a:latin typeface="Times New Roman" panose="02020603050405020304" pitchFamily="18" charset="0"/>
              <a:cs typeface="Times New Roman" panose="02020603050405020304" pitchFamily="18" charset="0"/>
            </a:endParaRPr>
          </a:p>
        </p:txBody>
      </p:sp>
      <p:sp>
        <p:nvSpPr>
          <p:cNvPr id="24" name="Text 6">
            <a:extLst>
              <a:ext uri="{FF2B5EF4-FFF2-40B4-BE49-F238E27FC236}">
                <a16:creationId xmlns:a16="http://schemas.microsoft.com/office/drawing/2014/main" id="{92F0ADEA-5F52-5CD3-C8BD-24451D34645E}"/>
              </a:ext>
            </a:extLst>
          </p:cNvPr>
          <p:cNvSpPr/>
          <p:nvPr/>
        </p:nvSpPr>
        <p:spPr>
          <a:xfrm>
            <a:off x="1020630" y="5790979"/>
            <a:ext cx="6185535" cy="38302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3000"/>
              </a:lnSpc>
              <a:buSzPct val="100000"/>
              <a:buChar char="•"/>
            </a:pPr>
            <a:r>
              <a:rPr lang="en-US" sz="2500" b="1" dirty="0">
                <a:solidFill>
                  <a:schemeClr val="bg1"/>
                </a:solidFill>
                <a:latin typeface="Times New Roman" panose="02020603050405020304" pitchFamily="18" charset="0"/>
                <a:ea typeface="Cabin" pitchFamily="34" charset="-122"/>
                <a:cs typeface="Times New Roman" panose="02020603050405020304" pitchFamily="18" charset="0"/>
              </a:rPr>
              <a:t>MySQL or PostgreSQL</a:t>
            </a:r>
            <a:endParaRPr lang="en-US" sz="2500" b="1" dirty="0">
              <a:solidFill>
                <a:schemeClr val="bg1"/>
              </a:solidFill>
              <a:latin typeface="Times New Roman" panose="02020603050405020304" pitchFamily="18" charset="0"/>
              <a:cs typeface="Times New Roman" panose="02020603050405020304" pitchFamily="18" charset="0"/>
            </a:endParaRPr>
          </a:p>
        </p:txBody>
      </p:sp>
      <p:sp>
        <p:nvSpPr>
          <p:cNvPr id="25" name="Text 7">
            <a:extLst>
              <a:ext uri="{FF2B5EF4-FFF2-40B4-BE49-F238E27FC236}">
                <a16:creationId xmlns:a16="http://schemas.microsoft.com/office/drawing/2014/main" id="{5D59F826-2178-1743-1F5D-8F0D38DD5DE2}"/>
              </a:ext>
            </a:extLst>
          </p:cNvPr>
          <p:cNvSpPr/>
          <p:nvPr/>
        </p:nvSpPr>
        <p:spPr>
          <a:xfrm>
            <a:off x="7797667" y="2772506"/>
            <a:ext cx="2816185" cy="35194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500" b="1" dirty="0">
                <a:solidFill>
                  <a:schemeClr val="bg1"/>
                </a:solidFill>
                <a:latin typeface="Times New Roman" panose="02020603050405020304" pitchFamily="18" charset="0"/>
                <a:ea typeface="Unbounded" pitchFamily="34" charset="-122"/>
                <a:cs typeface="Times New Roman" panose="02020603050405020304" pitchFamily="18" charset="0"/>
              </a:rPr>
              <a:t>Analytics &amp; ML:</a:t>
            </a:r>
            <a:endParaRPr lang="en-US" sz="2500" b="1" dirty="0">
              <a:solidFill>
                <a:schemeClr val="bg1"/>
              </a:solidFill>
              <a:latin typeface="Times New Roman" panose="02020603050405020304" pitchFamily="18" charset="0"/>
              <a:cs typeface="Times New Roman" panose="02020603050405020304" pitchFamily="18" charset="0"/>
            </a:endParaRPr>
          </a:p>
        </p:txBody>
      </p:sp>
      <p:sp>
        <p:nvSpPr>
          <p:cNvPr id="26" name="Text 8">
            <a:extLst>
              <a:ext uri="{FF2B5EF4-FFF2-40B4-BE49-F238E27FC236}">
                <a16:creationId xmlns:a16="http://schemas.microsoft.com/office/drawing/2014/main" id="{BBCD7F5F-2811-B51A-003C-10144C1D1A23}"/>
              </a:ext>
            </a:extLst>
          </p:cNvPr>
          <p:cNvSpPr/>
          <p:nvPr/>
        </p:nvSpPr>
        <p:spPr>
          <a:xfrm>
            <a:off x="7797667" y="3363770"/>
            <a:ext cx="6185535" cy="38302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3000"/>
              </a:lnSpc>
              <a:buSzPct val="100000"/>
              <a:buChar char="•"/>
            </a:pPr>
            <a:r>
              <a:rPr lang="en-US" sz="2500" b="1" dirty="0">
                <a:solidFill>
                  <a:schemeClr val="bg1"/>
                </a:solidFill>
                <a:latin typeface="Times New Roman" panose="02020603050405020304" pitchFamily="18" charset="0"/>
                <a:ea typeface="Cabin" pitchFamily="34" charset="-122"/>
                <a:cs typeface="Times New Roman" panose="02020603050405020304" pitchFamily="18" charset="0"/>
              </a:rPr>
              <a:t>Pandas, NumPy, Scikit-learn, TensorFlow</a:t>
            </a:r>
            <a:endParaRPr lang="en-US" sz="2500" b="1" dirty="0">
              <a:solidFill>
                <a:schemeClr val="bg1"/>
              </a:solidFill>
              <a:latin typeface="Times New Roman" panose="02020603050405020304" pitchFamily="18" charset="0"/>
              <a:cs typeface="Times New Roman" panose="02020603050405020304" pitchFamily="18" charset="0"/>
            </a:endParaRPr>
          </a:p>
        </p:txBody>
      </p:sp>
      <p:sp>
        <p:nvSpPr>
          <p:cNvPr id="27" name="Text 9">
            <a:extLst>
              <a:ext uri="{FF2B5EF4-FFF2-40B4-BE49-F238E27FC236}">
                <a16:creationId xmlns:a16="http://schemas.microsoft.com/office/drawing/2014/main" id="{D9C0FA59-7F66-C75B-AF24-B0F6F592A7A3}"/>
              </a:ext>
            </a:extLst>
          </p:cNvPr>
          <p:cNvSpPr/>
          <p:nvPr/>
        </p:nvSpPr>
        <p:spPr>
          <a:xfrm>
            <a:off x="7797667" y="3986110"/>
            <a:ext cx="2816185" cy="35194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500" b="1" dirty="0">
                <a:solidFill>
                  <a:schemeClr val="bg1"/>
                </a:solidFill>
                <a:latin typeface="Times New Roman" panose="02020603050405020304" pitchFamily="18" charset="0"/>
                <a:ea typeface="Unbounded" pitchFamily="34" charset="-122"/>
                <a:cs typeface="Times New Roman" panose="02020603050405020304" pitchFamily="18" charset="0"/>
              </a:rPr>
              <a:t>OCR:</a:t>
            </a:r>
            <a:endParaRPr lang="en-US" sz="2500" b="1" dirty="0">
              <a:solidFill>
                <a:schemeClr val="bg1"/>
              </a:solidFill>
              <a:latin typeface="Times New Roman" panose="02020603050405020304" pitchFamily="18" charset="0"/>
              <a:cs typeface="Times New Roman" panose="02020603050405020304" pitchFamily="18" charset="0"/>
            </a:endParaRPr>
          </a:p>
        </p:txBody>
      </p:sp>
      <p:sp>
        <p:nvSpPr>
          <p:cNvPr id="28" name="Text 10">
            <a:extLst>
              <a:ext uri="{FF2B5EF4-FFF2-40B4-BE49-F238E27FC236}">
                <a16:creationId xmlns:a16="http://schemas.microsoft.com/office/drawing/2014/main" id="{3BD0F456-BCDD-B580-E991-0C81BBC1813C}"/>
              </a:ext>
            </a:extLst>
          </p:cNvPr>
          <p:cNvSpPr/>
          <p:nvPr/>
        </p:nvSpPr>
        <p:spPr>
          <a:xfrm>
            <a:off x="7797667" y="4577375"/>
            <a:ext cx="6185535" cy="38302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3000"/>
              </a:lnSpc>
              <a:buSzPct val="100000"/>
              <a:buChar char="•"/>
            </a:pPr>
            <a:r>
              <a:rPr lang="en-US" sz="2500" b="1" dirty="0">
                <a:solidFill>
                  <a:schemeClr val="bg1"/>
                </a:solidFill>
                <a:latin typeface="Times New Roman" panose="02020603050405020304" pitchFamily="18" charset="0"/>
                <a:ea typeface="Cabin" pitchFamily="34" charset="-122"/>
                <a:cs typeface="Times New Roman" panose="02020603050405020304" pitchFamily="18" charset="0"/>
              </a:rPr>
              <a:t>Tesseract OCR, OpenCV</a:t>
            </a:r>
            <a:endParaRPr lang="en-US" sz="2500" b="1" dirty="0">
              <a:solidFill>
                <a:schemeClr val="bg1"/>
              </a:solidFill>
              <a:latin typeface="Times New Roman" panose="02020603050405020304" pitchFamily="18" charset="0"/>
              <a:cs typeface="Times New Roman" panose="02020603050405020304" pitchFamily="18" charset="0"/>
            </a:endParaRPr>
          </a:p>
        </p:txBody>
      </p:sp>
      <p:sp>
        <p:nvSpPr>
          <p:cNvPr id="29" name="Text 11">
            <a:extLst>
              <a:ext uri="{FF2B5EF4-FFF2-40B4-BE49-F238E27FC236}">
                <a16:creationId xmlns:a16="http://schemas.microsoft.com/office/drawing/2014/main" id="{DB648AE7-0A48-13CB-AFF7-82A6D7D110CA}"/>
              </a:ext>
            </a:extLst>
          </p:cNvPr>
          <p:cNvSpPr/>
          <p:nvPr/>
        </p:nvSpPr>
        <p:spPr>
          <a:xfrm>
            <a:off x="7797667" y="5199714"/>
            <a:ext cx="2816185" cy="35194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500" b="1" dirty="0">
                <a:solidFill>
                  <a:schemeClr val="bg1"/>
                </a:solidFill>
                <a:latin typeface="Times New Roman" panose="02020603050405020304" pitchFamily="18" charset="0"/>
                <a:ea typeface="Unbounded" pitchFamily="34" charset="-122"/>
                <a:cs typeface="Times New Roman" panose="02020603050405020304" pitchFamily="18" charset="0"/>
              </a:rPr>
              <a:t>Visualization:</a:t>
            </a:r>
            <a:endParaRPr lang="en-US" sz="2500" b="1" dirty="0">
              <a:solidFill>
                <a:schemeClr val="bg1"/>
              </a:solidFill>
              <a:latin typeface="Times New Roman" panose="02020603050405020304" pitchFamily="18" charset="0"/>
              <a:cs typeface="Times New Roman" panose="02020603050405020304" pitchFamily="18" charset="0"/>
            </a:endParaRPr>
          </a:p>
        </p:txBody>
      </p:sp>
      <p:sp>
        <p:nvSpPr>
          <p:cNvPr id="30" name="Text 12">
            <a:extLst>
              <a:ext uri="{FF2B5EF4-FFF2-40B4-BE49-F238E27FC236}">
                <a16:creationId xmlns:a16="http://schemas.microsoft.com/office/drawing/2014/main" id="{87F6C9E3-71E7-3069-33C4-91517DB8C601}"/>
              </a:ext>
            </a:extLst>
          </p:cNvPr>
          <p:cNvSpPr/>
          <p:nvPr/>
        </p:nvSpPr>
        <p:spPr>
          <a:xfrm>
            <a:off x="7797667" y="5790979"/>
            <a:ext cx="6185535" cy="38302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3000"/>
              </a:lnSpc>
              <a:buSzPct val="100000"/>
              <a:buChar char="•"/>
            </a:pPr>
            <a:r>
              <a:rPr lang="en-US" sz="2500" b="1" dirty="0">
                <a:solidFill>
                  <a:schemeClr val="bg1"/>
                </a:solidFill>
                <a:latin typeface="Times New Roman" panose="02020603050405020304" pitchFamily="18" charset="0"/>
                <a:ea typeface="Cabin" pitchFamily="34" charset="-122"/>
                <a:cs typeface="Times New Roman" panose="02020603050405020304" pitchFamily="18" charset="0"/>
              </a:rPr>
              <a:t>Chart.js or Matplotlib</a:t>
            </a:r>
            <a:endParaRPr lang="en-US" sz="25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1981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E6E89-BAB1-B77B-6C6C-AF0BE81C0F12}"/>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A618B52B-D4F6-D617-C753-83E89DF9BDC7}"/>
              </a:ext>
            </a:extLst>
          </p:cNvPr>
          <p:cNvPicPr>
            <a:picLocks noChangeAspect="1"/>
          </p:cNvPicPr>
          <p:nvPr/>
        </p:nvPicPr>
        <p:blipFill>
          <a:blip r:embed="rId3">
            <a:alphaModFix amt="15000"/>
          </a:blip>
          <a:stretch>
            <a:fillRect/>
          </a:stretch>
        </p:blipFill>
        <p:spPr>
          <a:xfrm>
            <a:off x="-259826" y="-21589"/>
            <a:ext cx="15149198" cy="8268937"/>
          </a:xfrm>
          <a:prstGeom prst="rect">
            <a:avLst/>
          </a:prstGeom>
        </p:spPr>
      </p:pic>
      <p:pic>
        <p:nvPicPr>
          <p:cNvPr id="18" name="Picture 17">
            <a:extLst>
              <a:ext uri="{FF2B5EF4-FFF2-40B4-BE49-F238E27FC236}">
                <a16:creationId xmlns:a16="http://schemas.microsoft.com/office/drawing/2014/main" id="{334D5903-DD07-9E26-2A26-A9CD0A161D29}"/>
              </a:ext>
            </a:extLst>
          </p:cNvPr>
          <p:cNvPicPr>
            <a:picLocks noChangeAspect="1"/>
          </p:cNvPicPr>
          <p:nvPr/>
        </p:nvPicPr>
        <p:blipFill>
          <a:blip r:embed="rId4"/>
          <a:stretch>
            <a:fillRect/>
          </a:stretch>
        </p:blipFill>
        <p:spPr>
          <a:xfrm>
            <a:off x="12557525" y="7674421"/>
            <a:ext cx="2072875" cy="525317"/>
          </a:xfrm>
          <a:prstGeom prst="rect">
            <a:avLst/>
          </a:prstGeom>
        </p:spPr>
      </p:pic>
      <p:sp>
        <p:nvSpPr>
          <p:cNvPr id="20" name="Google Shape;104;p5">
            <a:extLst>
              <a:ext uri="{FF2B5EF4-FFF2-40B4-BE49-F238E27FC236}">
                <a16:creationId xmlns:a16="http://schemas.microsoft.com/office/drawing/2014/main" id="{6FADBBE6-87BA-E508-47B8-2E0EF7A31A01}"/>
              </a:ext>
            </a:extLst>
          </p:cNvPr>
          <p:cNvSpPr/>
          <p:nvPr/>
        </p:nvSpPr>
        <p:spPr>
          <a:xfrm>
            <a:off x="863798" y="629246"/>
            <a:ext cx="11637645" cy="771287"/>
          </a:xfrm>
          <a:prstGeom prst="rect">
            <a:avLst/>
          </a:prstGeom>
          <a:noFill/>
          <a:ln>
            <a:noFill/>
          </a:ln>
        </p:spPr>
        <p:txBody>
          <a:bodyPr spcFirstLastPara="1" wrap="square" lIns="0" tIns="0" rIns="0" bIns="0" anchor="t" anchorCtr="0">
            <a:noAutofit/>
          </a:bodyPr>
          <a:lstStyle/>
          <a:p>
            <a:pPr marL="0" marR="0" lvl="0" indent="0" algn="l" rtl="0">
              <a:lnSpc>
                <a:spcPct val="124742"/>
              </a:lnSpc>
              <a:spcBef>
                <a:spcPts val="0"/>
              </a:spcBef>
              <a:spcAft>
                <a:spcPts val="0"/>
              </a:spcAft>
              <a:buClr>
                <a:srgbClr val="F5F0F0"/>
              </a:buClr>
              <a:buSzPts val="4850"/>
              <a:buFont typeface="Merriweather"/>
              <a:buNone/>
            </a:pPr>
            <a:endParaRPr sz="4700" b="0" i="0" u="none" strike="noStrike" cap="none" dirty="0"/>
          </a:p>
        </p:txBody>
      </p:sp>
      <p:sp>
        <p:nvSpPr>
          <p:cNvPr id="15" name="Text 0">
            <a:extLst>
              <a:ext uri="{FF2B5EF4-FFF2-40B4-BE49-F238E27FC236}">
                <a16:creationId xmlns:a16="http://schemas.microsoft.com/office/drawing/2014/main" id="{01502501-4B07-23A4-D475-CC70B0F7175F}"/>
              </a:ext>
            </a:extLst>
          </p:cNvPr>
          <p:cNvSpPr/>
          <p:nvPr/>
        </p:nvSpPr>
        <p:spPr>
          <a:xfrm>
            <a:off x="744736" y="668238"/>
            <a:ext cx="4878229" cy="50065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900"/>
              </a:lnSpc>
              <a:buNone/>
            </a:pPr>
            <a:r>
              <a:rPr lang="en-US" sz="3500" b="1" dirty="0">
                <a:solidFill>
                  <a:schemeClr val="bg1"/>
                </a:solidFill>
                <a:latin typeface="Times New Roman" panose="02020603050405020304" pitchFamily="18" charset="0"/>
                <a:ea typeface="Unbounded" pitchFamily="34" charset="-122"/>
                <a:cs typeface="Times New Roman" panose="02020603050405020304" pitchFamily="18" charset="0"/>
              </a:rPr>
              <a:t>Expected Outcomes</a:t>
            </a:r>
            <a:endParaRPr lang="en-US" sz="3500" b="1" dirty="0">
              <a:solidFill>
                <a:schemeClr val="bg1"/>
              </a:solidFill>
              <a:latin typeface="Times New Roman" panose="02020603050405020304" pitchFamily="18" charset="0"/>
              <a:cs typeface="Times New Roman" panose="02020603050405020304" pitchFamily="18" charset="0"/>
            </a:endParaRPr>
          </a:p>
        </p:txBody>
      </p:sp>
      <p:sp>
        <p:nvSpPr>
          <p:cNvPr id="16" name="Shape 1">
            <a:extLst>
              <a:ext uri="{FF2B5EF4-FFF2-40B4-BE49-F238E27FC236}">
                <a16:creationId xmlns:a16="http://schemas.microsoft.com/office/drawing/2014/main" id="{B0D50280-75F8-A921-232D-F352037B2B5A}"/>
              </a:ext>
            </a:extLst>
          </p:cNvPr>
          <p:cNvSpPr/>
          <p:nvPr/>
        </p:nvSpPr>
        <p:spPr>
          <a:xfrm>
            <a:off x="744736" y="1536006"/>
            <a:ext cx="6475928" cy="1878687"/>
          </a:xfrm>
          <a:prstGeom prst="roundRect">
            <a:avLst>
              <a:gd name="adj" fmla="val 1699"/>
            </a:avLst>
          </a:prstGeom>
          <a:solidFill>
            <a:srgbClr val="304755"/>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500" b="1">
              <a:solidFill>
                <a:schemeClr val="bg1"/>
              </a:solidFill>
              <a:latin typeface="Times New Roman" panose="02020603050405020304" pitchFamily="18" charset="0"/>
              <a:cs typeface="Times New Roman" panose="02020603050405020304" pitchFamily="18" charset="0"/>
            </a:endParaRPr>
          </a:p>
        </p:txBody>
      </p:sp>
      <p:sp>
        <p:nvSpPr>
          <p:cNvPr id="17" name="Shape 2">
            <a:extLst>
              <a:ext uri="{FF2B5EF4-FFF2-40B4-BE49-F238E27FC236}">
                <a16:creationId xmlns:a16="http://schemas.microsoft.com/office/drawing/2014/main" id="{D7CB31C0-A697-19AE-5D80-5CF736F2588D}"/>
              </a:ext>
            </a:extLst>
          </p:cNvPr>
          <p:cNvSpPr/>
          <p:nvPr/>
        </p:nvSpPr>
        <p:spPr>
          <a:xfrm>
            <a:off x="957501" y="1759922"/>
            <a:ext cx="638294" cy="638294"/>
          </a:xfrm>
          <a:prstGeom prst="roundRect">
            <a:avLst>
              <a:gd name="adj" fmla="val 14324254"/>
            </a:avLst>
          </a:prstGeom>
          <a:solidFill>
            <a:srgbClr val="0A988B"/>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500" b="1">
              <a:solidFill>
                <a:schemeClr val="bg1"/>
              </a:solidFill>
              <a:latin typeface="Times New Roman" panose="02020603050405020304" pitchFamily="18" charset="0"/>
              <a:cs typeface="Times New Roman" panose="02020603050405020304" pitchFamily="18" charset="0"/>
            </a:endParaRPr>
          </a:p>
        </p:txBody>
      </p:sp>
      <p:pic>
        <p:nvPicPr>
          <p:cNvPr id="21" name="Image 0">
            <a:extLst>
              <a:ext uri="{FF2B5EF4-FFF2-40B4-BE49-F238E27FC236}">
                <a16:creationId xmlns:a16="http://schemas.microsoft.com/office/drawing/2014/main" id="{E56C9088-7CA0-D99F-323C-9782177CCEB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32999" y="1935420"/>
            <a:ext cx="287179" cy="287179"/>
          </a:xfrm>
          <a:prstGeom prst="rect">
            <a:avLst/>
          </a:prstGeom>
        </p:spPr>
      </p:pic>
      <p:sp>
        <p:nvSpPr>
          <p:cNvPr id="22" name="Text 3">
            <a:extLst>
              <a:ext uri="{FF2B5EF4-FFF2-40B4-BE49-F238E27FC236}">
                <a16:creationId xmlns:a16="http://schemas.microsoft.com/office/drawing/2014/main" id="{7D9BED57-B971-B9C2-9560-B1B196432DC7}"/>
              </a:ext>
            </a:extLst>
          </p:cNvPr>
          <p:cNvSpPr/>
          <p:nvPr/>
        </p:nvSpPr>
        <p:spPr>
          <a:xfrm>
            <a:off x="957501" y="2587287"/>
            <a:ext cx="5804297" cy="31289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50"/>
              </a:lnSpc>
              <a:buNone/>
            </a:pPr>
            <a:r>
              <a:rPr lang="en-US" sz="2500" b="1" dirty="0">
                <a:solidFill>
                  <a:schemeClr val="bg1"/>
                </a:solidFill>
                <a:latin typeface="Times New Roman" panose="02020603050405020304" pitchFamily="18" charset="0"/>
                <a:ea typeface="Unbounded" pitchFamily="34" charset="-122"/>
                <a:cs typeface="Times New Roman" panose="02020603050405020304" pitchFamily="18" charset="0"/>
              </a:rPr>
              <a:t>A functional Healytics web application.</a:t>
            </a:r>
            <a:endParaRPr lang="en-US" sz="2500" b="1" dirty="0">
              <a:solidFill>
                <a:schemeClr val="bg1"/>
              </a:solidFill>
              <a:latin typeface="Times New Roman" panose="02020603050405020304" pitchFamily="18" charset="0"/>
              <a:cs typeface="Times New Roman" panose="02020603050405020304" pitchFamily="18" charset="0"/>
            </a:endParaRPr>
          </a:p>
        </p:txBody>
      </p:sp>
      <p:sp>
        <p:nvSpPr>
          <p:cNvPr id="23" name="Shape 4">
            <a:extLst>
              <a:ext uri="{FF2B5EF4-FFF2-40B4-BE49-F238E27FC236}">
                <a16:creationId xmlns:a16="http://schemas.microsoft.com/office/drawing/2014/main" id="{56744ADA-F9AB-1DAF-D995-8B715F7A0096}"/>
              </a:ext>
            </a:extLst>
          </p:cNvPr>
          <p:cNvSpPr/>
          <p:nvPr/>
        </p:nvSpPr>
        <p:spPr>
          <a:xfrm>
            <a:off x="7409736" y="1547157"/>
            <a:ext cx="6475928" cy="1878687"/>
          </a:xfrm>
          <a:prstGeom prst="roundRect">
            <a:avLst>
              <a:gd name="adj" fmla="val 1699"/>
            </a:avLst>
          </a:prstGeom>
          <a:solidFill>
            <a:srgbClr val="304755"/>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500" b="1">
              <a:solidFill>
                <a:schemeClr val="bg1"/>
              </a:solidFill>
              <a:latin typeface="Times New Roman" panose="02020603050405020304" pitchFamily="18" charset="0"/>
              <a:cs typeface="Times New Roman" panose="02020603050405020304" pitchFamily="18" charset="0"/>
            </a:endParaRPr>
          </a:p>
        </p:txBody>
      </p:sp>
      <p:sp>
        <p:nvSpPr>
          <p:cNvPr id="24" name="Shape 5">
            <a:extLst>
              <a:ext uri="{FF2B5EF4-FFF2-40B4-BE49-F238E27FC236}">
                <a16:creationId xmlns:a16="http://schemas.microsoft.com/office/drawing/2014/main" id="{0B7AAFB6-369C-26B0-0E84-EF5454F698E1}"/>
              </a:ext>
            </a:extLst>
          </p:cNvPr>
          <p:cNvSpPr/>
          <p:nvPr/>
        </p:nvSpPr>
        <p:spPr>
          <a:xfrm>
            <a:off x="7622500" y="1759922"/>
            <a:ext cx="638294" cy="638294"/>
          </a:xfrm>
          <a:prstGeom prst="roundRect">
            <a:avLst>
              <a:gd name="adj" fmla="val 14324254"/>
            </a:avLst>
          </a:prstGeom>
          <a:solidFill>
            <a:srgbClr val="0A988B"/>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500" b="1">
              <a:solidFill>
                <a:schemeClr val="bg1"/>
              </a:solidFill>
              <a:latin typeface="Times New Roman" panose="02020603050405020304" pitchFamily="18" charset="0"/>
              <a:cs typeface="Times New Roman" panose="02020603050405020304" pitchFamily="18" charset="0"/>
            </a:endParaRPr>
          </a:p>
        </p:txBody>
      </p:sp>
      <p:pic>
        <p:nvPicPr>
          <p:cNvPr id="25" name="Image 1">
            <a:extLst>
              <a:ext uri="{FF2B5EF4-FFF2-40B4-BE49-F238E27FC236}">
                <a16:creationId xmlns:a16="http://schemas.microsoft.com/office/drawing/2014/main" id="{BBD2085B-79AE-0A75-0B86-3021EF8B93F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97998" y="1935420"/>
            <a:ext cx="287179" cy="287179"/>
          </a:xfrm>
          <a:prstGeom prst="rect">
            <a:avLst/>
          </a:prstGeom>
        </p:spPr>
      </p:pic>
      <p:sp>
        <p:nvSpPr>
          <p:cNvPr id="26" name="Text 6">
            <a:extLst>
              <a:ext uri="{FF2B5EF4-FFF2-40B4-BE49-F238E27FC236}">
                <a16:creationId xmlns:a16="http://schemas.microsoft.com/office/drawing/2014/main" id="{52FB37C4-1FAE-F958-30A1-AAB83009A072}"/>
              </a:ext>
            </a:extLst>
          </p:cNvPr>
          <p:cNvSpPr/>
          <p:nvPr/>
        </p:nvSpPr>
        <p:spPr>
          <a:xfrm>
            <a:off x="7622500" y="2587287"/>
            <a:ext cx="6050399" cy="625793"/>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50"/>
              </a:lnSpc>
              <a:buNone/>
            </a:pPr>
            <a:r>
              <a:rPr lang="en-US" sz="2500" b="1" dirty="0">
                <a:solidFill>
                  <a:schemeClr val="bg1"/>
                </a:solidFill>
                <a:latin typeface="Times New Roman" panose="02020603050405020304" pitchFamily="18" charset="0"/>
                <a:ea typeface="Unbounded" pitchFamily="34" charset="-122"/>
                <a:cs typeface="Times New Roman" panose="02020603050405020304" pitchFamily="18" charset="0"/>
              </a:rPr>
              <a:t>Secure storage and management of medical records.</a:t>
            </a:r>
            <a:endParaRPr lang="en-US" sz="2500" b="1" dirty="0">
              <a:solidFill>
                <a:schemeClr val="bg1"/>
              </a:solidFill>
              <a:latin typeface="Times New Roman" panose="02020603050405020304" pitchFamily="18" charset="0"/>
              <a:cs typeface="Times New Roman" panose="02020603050405020304" pitchFamily="18" charset="0"/>
            </a:endParaRPr>
          </a:p>
        </p:txBody>
      </p:sp>
      <p:sp>
        <p:nvSpPr>
          <p:cNvPr id="27" name="Shape 7">
            <a:extLst>
              <a:ext uri="{FF2B5EF4-FFF2-40B4-BE49-F238E27FC236}">
                <a16:creationId xmlns:a16="http://schemas.microsoft.com/office/drawing/2014/main" id="{C1D24316-7C8E-35C6-69DF-F2D217EB71FE}"/>
              </a:ext>
            </a:extLst>
          </p:cNvPr>
          <p:cNvSpPr/>
          <p:nvPr/>
        </p:nvSpPr>
        <p:spPr>
          <a:xfrm>
            <a:off x="744736" y="3614916"/>
            <a:ext cx="6475928" cy="1878687"/>
          </a:xfrm>
          <a:prstGeom prst="roundRect">
            <a:avLst>
              <a:gd name="adj" fmla="val 1699"/>
            </a:avLst>
          </a:prstGeom>
          <a:solidFill>
            <a:srgbClr val="304755"/>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500" b="1">
              <a:solidFill>
                <a:schemeClr val="bg1"/>
              </a:solidFill>
              <a:latin typeface="Times New Roman" panose="02020603050405020304" pitchFamily="18" charset="0"/>
              <a:cs typeface="Times New Roman" panose="02020603050405020304" pitchFamily="18" charset="0"/>
            </a:endParaRPr>
          </a:p>
        </p:txBody>
      </p:sp>
      <p:sp>
        <p:nvSpPr>
          <p:cNvPr id="28" name="Shape 8">
            <a:extLst>
              <a:ext uri="{FF2B5EF4-FFF2-40B4-BE49-F238E27FC236}">
                <a16:creationId xmlns:a16="http://schemas.microsoft.com/office/drawing/2014/main" id="{8F29C808-533B-4A8D-07ED-F44980B27CE9}"/>
              </a:ext>
            </a:extLst>
          </p:cNvPr>
          <p:cNvSpPr/>
          <p:nvPr/>
        </p:nvSpPr>
        <p:spPr>
          <a:xfrm>
            <a:off x="957501" y="3827680"/>
            <a:ext cx="638294" cy="638294"/>
          </a:xfrm>
          <a:prstGeom prst="roundRect">
            <a:avLst>
              <a:gd name="adj" fmla="val 14324254"/>
            </a:avLst>
          </a:prstGeom>
          <a:solidFill>
            <a:srgbClr val="0A988B"/>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500" b="1">
              <a:solidFill>
                <a:schemeClr val="bg1"/>
              </a:solidFill>
              <a:latin typeface="Times New Roman" panose="02020603050405020304" pitchFamily="18" charset="0"/>
              <a:cs typeface="Times New Roman" panose="02020603050405020304" pitchFamily="18" charset="0"/>
            </a:endParaRPr>
          </a:p>
        </p:txBody>
      </p:sp>
      <p:pic>
        <p:nvPicPr>
          <p:cNvPr id="29" name="Image 2">
            <a:extLst>
              <a:ext uri="{FF2B5EF4-FFF2-40B4-BE49-F238E27FC236}">
                <a16:creationId xmlns:a16="http://schemas.microsoft.com/office/drawing/2014/main" id="{F0C54A51-EDE4-541D-44B6-9D9C5C3FBE5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32999" y="4003178"/>
            <a:ext cx="287179" cy="287179"/>
          </a:xfrm>
          <a:prstGeom prst="rect">
            <a:avLst/>
          </a:prstGeom>
        </p:spPr>
      </p:pic>
      <p:sp>
        <p:nvSpPr>
          <p:cNvPr id="30" name="Text 9">
            <a:extLst>
              <a:ext uri="{FF2B5EF4-FFF2-40B4-BE49-F238E27FC236}">
                <a16:creationId xmlns:a16="http://schemas.microsoft.com/office/drawing/2014/main" id="{A6A0F908-A6DB-7BA9-F34F-825F51B034F5}"/>
              </a:ext>
            </a:extLst>
          </p:cNvPr>
          <p:cNvSpPr/>
          <p:nvPr/>
        </p:nvSpPr>
        <p:spPr>
          <a:xfrm>
            <a:off x="957501" y="4655046"/>
            <a:ext cx="5792748" cy="31289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50"/>
              </a:lnSpc>
              <a:buNone/>
            </a:pPr>
            <a:r>
              <a:rPr lang="en-US" sz="2500" b="1" dirty="0">
                <a:solidFill>
                  <a:schemeClr val="bg1"/>
                </a:solidFill>
                <a:latin typeface="Times New Roman" panose="02020603050405020304" pitchFamily="18" charset="0"/>
                <a:ea typeface="Unbounded" pitchFamily="34" charset="-122"/>
                <a:cs typeface="Times New Roman" panose="02020603050405020304" pitchFamily="18" charset="0"/>
              </a:rPr>
              <a:t>OCR-based extraction of medical data.</a:t>
            </a:r>
            <a:endParaRPr lang="en-US" sz="2500" b="1" dirty="0">
              <a:solidFill>
                <a:schemeClr val="bg1"/>
              </a:solidFill>
              <a:latin typeface="Times New Roman" panose="02020603050405020304" pitchFamily="18" charset="0"/>
              <a:cs typeface="Times New Roman" panose="02020603050405020304" pitchFamily="18" charset="0"/>
            </a:endParaRPr>
          </a:p>
        </p:txBody>
      </p:sp>
      <p:sp>
        <p:nvSpPr>
          <p:cNvPr id="31" name="Shape 10">
            <a:extLst>
              <a:ext uri="{FF2B5EF4-FFF2-40B4-BE49-F238E27FC236}">
                <a16:creationId xmlns:a16="http://schemas.microsoft.com/office/drawing/2014/main" id="{01AA91C1-EE5F-48FE-74CD-41C030C1BD59}"/>
              </a:ext>
            </a:extLst>
          </p:cNvPr>
          <p:cNvSpPr/>
          <p:nvPr/>
        </p:nvSpPr>
        <p:spPr>
          <a:xfrm>
            <a:off x="7409736" y="3614916"/>
            <a:ext cx="6475928" cy="1878687"/>
          </a:xfrm>
          <a:prstGeom prst="roundRect">
            <a:avLst>
              <a:gd name="adj" fmla="val 1699"/>
            </a:avLst>
          </a:prstGeom>
          <a:solidFill>
            <a:srgbClr val="304755"/>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500" b="1">
              <a:solidFill>
                <a:schemeClr val="bg1"/>
              </a:solidFill>
              <a:latin typeface="Times New Roman" panose="02020603050405020304" pitchFamily="18" charset="0"/>
              <a:cs typeface="Times New Roman" panose="02020603050405020304" pitchFamily="18" charset="0"/>
            </a:endParaRPr>
          </a:p>
        </p:txBody>
      </p:sp>
      <p:sp>
        <p:nvSpPr>
          <p:cNvPr id="32" name="Shape 11">
            <a:extLst>
              <a:ext uri="{FF2B5EF4-FFF2-40B4-BE49-F238E27FC236}">
                <a16:creationId xmlns:a16="http://schemas.microsoft.com/office/drawing/2014/main" id="{10F57C83-FD8A-E1F4-ED2D-7AA7D6AE6D41}"/>
              </a:ext>
            </a:extLst>
          </p:cNvPr>
          <p:cNvSpPr/>
          <p:nvPr/>
        </p:nvSpPr>
        <p:spPr>
          <a:xfrm>
            <a:off x="7622500" y="3827680"/>
            <a:ext cx="638294" cy="638294"/>
          </a:xfrm>
          <a:prstGeom prst="roundRect">
            <a:avLst>
              <a:gd name="adj" fmla="val 14324254"/>
            </a:avLst>
          </a:prstGeom>
          <a:solidFill>
            <a:srgbClr val="0A988B"/>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500" b="1">
              <a:solidFill>
                <a:schemeClr val="bg1"/>
              </a:solidFill>
              <a:latin typeface="Times New Roman" panose="02020603050405020304" pitchFamily="18" charset="0"/>
              <a:cs typeface="Times New Roman" panose="02020603050405020304" pitchFamily="18" charset="0"/>
            </a:endParaRPr>
          </a:p>
        </p:txBody>
      </p:sp>
      <p:pic>
        <p:nvPicPr>
          <p:cNvPr id="33" name="Image 3">
            <a:extLst>
              <a:ext uri="{FF2B5EF4-FFF2-40B4-BE49-F238E27FC236}">
                <a16:creationId xmlns:a16="http://schemas.microsoft.com/office/drawing/2014/main" id="{F8EB9F83-FBBA-7B8E-AE32-3EB0B563778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97998" y="4003178"/>
            <a:ext cx="287179" cy="287179"/>
          </a:xfrm>
          <a:prstGeom prst="rect">
            <a:avLst/>
          </a:prstGeom>
        </p:spPr>
      </p:pic>
      <p:sp>
        <p:nvSpPr>
          <p:cNvPr id="34" name="Text 12">
            <a:extLst>
              <a:ext uri="{FF2B5EF4-FFF2-40B4-BE49-F238E27FC236}">
                <a16:creationId xmlns:a16="http://schemas.microsoft.com/office/drawing/2014/main" id="{55A2E184-0578-458C-B4CE-794CD8835C52}"/>
              </a:ext>
            </a:extLst>
          </p:cNvPr>
          <p:cNvSpPr/>
          <p:nvPr/>
        </p:nvSpPr>
        <p:spPr>
          <a:xfrm>
            <a:off x="7622500" y="4655046"/>
            <a:ext cx="6050399" cy="625793"/>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50"/>
              </a:lnSpc>
              <a:buNone/>
            </a:pPr>
            <a:r>
              <a:rPr lang="en-US" sz="2500" b="1" dirty="0">
                <a:solidFill>
                  <a:schemeClr val="bg1"/>
                </a:solidFill>
                <a:latin typeface="Times New Roman" panose="02020603050405020304" pitchFamily="18" charset="0"/>
                <a:ea typeface="Unbounded" pitchFamily="34" charset="-122"/>
                <a:cs typeface="Times New Roman" panose="02020603050405020304" pitchFamily="18" charset="0"/>
              </a:rPr>
              <a:t>Health analytics dashboard showing trends and insights.</a:t>
            </a:r>
            <a:endParaRPr lang="en-US" sz="2500" b="1" dirty="0">
              <a:solidFill>
                <a:schemeClr val="bg1"/>
              </a:solidFill>
              <a:latin typeface="Times New Roman" panose="02020603050405020304" pitchFamily="18" charset="0"/>
              <a:cs typeface="Times New Roman" panose="02020603050405020304" pitchFamily="18" charset="0"/>
            </a:endParaRPr>
          </a:p>
        </p:txBody>
      </p:sp>
      <p:sp>
        <p:nvSpPr>
          <p:cNvPr id="35" name="Shape 13">
            <a:extLst>
              <a:ext uri="{FF2B5EF4-FFF2-40B4-BE49-F238E27FC236}">
                <a16:creationId xmlns:a16="http://schemas.microsoft.com/office/drawing/2014/main" id="{A326187B-78DE-9ECC-20A8-2F0511C002CC}"/>
              </a:ext>
            </a:extLst>
          </p:cNvPr>
          <p:cNvSpPr/>
          <p:nvPr/>
        </p:nvSpPr>
        <p:spPr>
          <a:xfrm>
            <a:off x="744736" y="5682674"/>
            <a:ext cx="6475928" cy="1878687"/>
          </a:xfrm>
          <a:prstGeom prst="roundRect">
            <a:avLst>
              <a:gd name="adj" fmla="val 1699"/>
            </a:avLst>
          </a:prstGeom>
          <a:solidFill>
            <a:srgbClr val="304755"/>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500" b="1">
              <a:solidFill>
                <a:schemeClr val="bg1"/>
              </a:solidFill>
              <a:latin typeface="Times New Roman" panose="02020603050405020304" pitchFamily="18" charset="0"/>
              <a:cs typeface="Times New Roman" panose="02020603050405020304" pitchFamily="18" charset="0"/>
            </a:endParaRPr>
          </a:p>
        </p:txBody>
      </p:sp>
      <p:sp>
        <p:nvSpPr>
          <p:cNvPr id="36" name="Shape 14">
            <a:extLst>
              <a:ext uri="{FF2B5EF4-FFF2-40B4-BE49-F238E27FC236}">
                <a16:creationId xmlns:a16="http://schemas.microsoft.com/office/drawing/2014/main" id="{09765FF1-ECFF-EFFE-09B5-65BCFFF7C341}"/>
              </a:ext>
            </a:extLst>
          </p:cNvPr>
          <p:cNvSpPr/>
          <p:nvPr/>
        </p:nvSpPr>
        <p:spPr>
          <a:xfrm>
            <a:off x="957501" y="5895439"/>
            <a:ext cx="638294" cy="638294"/>
          </a:xfrm>
          <a:prstGeom prst="roundRect">
            <a:avLst>
              <a:gd name="adj" fmla="val 14324254"/>
            </a:avLst>
          </a:prstGeom>
          <a:solidFill>
            <a:srgbClr val="0A988B"/>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500" b="1">
              <a:solidFill>
                <a:schemeClr val="bg1"/>
              </a:solidFill>
              <a:latin typeface="Times New Roman" panose="02020603050405020304" pitchFamily="18" charset="0"/>
              <a:cs typeface="Times New Roman" panose="02020603050405020304" pitchFamily="18" charset="0"/>
            </a:endParaRPr>
          </a:p>
        </p:txBody>
      </p:sp>
      <p:pic>
        <p:nvPicPr>
          <p:cNvPr id="37" name="Image 4">
            <a:extLst>
              <a:ext uri="{FF2B5EF4-FFF2-40B4-BE49-F238E27FC236}">
                <a16:creationId xmlns:a16="http://schemas.microsoft.com/office/drawing/2014/main" id="{13390F29-0633-0713-9D3E-ABD2D7A23AD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32999" y="6070937"/>
            <a:ext cx="287179" cy="287179"/>
          </a:xfrm>
          <a:prstGeom prst="rect">
            <a:avLst/>
          </a:prstGeom>
        </p:spPr>
      </p:pic>
      <p:sp>
        <p:nvSpPr>
          <p:cNvPr id="38" name="Text 15">
            <a:extLst>
              <a:ext uri="{FF2B5EF4-FFF2-40B4-BE49-F238E27FC236}">
                <a16:creationId xmlns:a16="http://schemas.microsoft.com/office/drawing/2014/main" id="{89521AC6-1B3D-CEBD-18FE-F244414A3A75}"/>
              </a:ext>
            </a:extLst>
          </p:cNvPr>
          <p:cNvSpPr/>
          <p:nvPr/>
        </p:nvSpPr>
        <p:spPr>
          <a:xfrm>
            <a:off x="957501" y="6722804"/>
            <a:ext cx="6050399" cy="625793"/>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50"/>
              </a:lnSpc>
              <a:buNone/>
            </a:pPr>
            <a:r>
              <a:rPr lang="en-US" sz="2500" b="1" dirty="0">
                <a:solidFill>
                  <a:schemeClr val="bg1"/>
                </a:solidFill>
                <a:latin typeface="Times New Roman" panose="02020603050405020304" pitchFamily="18" charset="0"/>
                <a:ea typeface="Unbounded" pitchFamily="34" charset="-122"/>
                <a:cs typeface="Times New Roman" panose="02020603050405020304" pitchFamily="18" charset="0"/>
              </a:rPr>
              <a:t>Predictive model for health risk estimation.</a:t>
            </a:r>
            <a:endParaRPr lang="en-US" sz="2500" b="1" dirty="0">
              <a:solidFill>
                <a:schemeClr val="bg1"/>
              </a:solidFill>
              <a:latin typeface="Times New Roman" panose="02020603050405020304" pitchFamily="18" charset="0"/>
              <a:cs typeface="Times New Roman" panose="02020603050405020304" pitchFamily="18" charset="0"/>
            </a:endParaRPr>
          </a:p>
        </p:txBody>
      </p:sp>
      <p:sp>
        <p:nvSpPr>
          <p:cNvPr id="39" name="Shape 16">
            <a:extLst>
              <a:ext uri="{FF2B5EF4-FFF2-40B4-BE49-F238E27FC236}">
                <a16:creationId xmlns:a16="http://schemas.microsoft.com/office/drawing/2014/main" id="{C4108514-0E1F-8503-FF1E-08E9D503CCCA}"/>
              </a:ext>
            </a:extLst>
          </p:cNvPr>
          <p:cNvSpPr/>
          <p:nvPr/>
        </p:nvSpPr>
        <p:spPr>
          <a:xfrm>
            <a:off x="7409736" y="5682674"/>
            <a:ext cx="6475928" cy="1878687"/>
          </a:xfrm>
          <a:prstGeom prst="roundRect">
            <a:avLst>
              <a:gd name="adj" fmla="val 1699"/>
            </a:avLst>
          </a:prstGeom>
          <a:solidFill>
            <a:srgbClr val="304755"/>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500" b="1">
              <a:solidFill>
                <a:schemeClr val="bg1"/>
              </a:solidFill>
              <a:latin typeface="Times New Roman" panose="02020603050405020304" pitchFamily="18" charset="0"/>
              <a:cs typeface="Times New Roman" panose="02020603050405020304" pitchFamily="18" charset="0"/>
            </a:endParaRPr>
          </a:p>
        </p:txBody>
      </p:sp>
      <p:sp>
        <p:nvSpPr>
          <p:cNvPr id="40" name="Shape 17">
            <a:extLst>
              <a:ext uri="{FF2B5EF4-FFF2-40B4-BE49-F238E27FC236}">
                <a16:creationId xmlns:a16="http://schemas.microsoft.com/office/drawing/2014/main" id="{B808BD0C-3B79-AB49-696A-3CB1F06C6DE9}"/>
              </a:ext>
            </a:extLst>
          </p:cNvPr>
          <p:cNvSpPr/>
          <p:nvPr/>
        </p:nvSpPr>
        <p:spPr>
          <a:xfrm>
            <a:off x="7622500" y="5895439"/>
            <a:ext cx="638294" cy="638294"/>
          </a:xfrm>
          <a:prstGeom prst="roundRect">
            <a:avLst>
              <a:gd name="adj" fmla="val 14324254"/>
            </a:avLst>
          </a:prstGeom>
          <a:solidFill>
            <a:srgbClr val="0A988B"/>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500" b="1">
              <a:solidFill>
                <a:schemeClr val="bg1"/>
              </a:solidFill>
              <a:latin typeface="Times New Roman" panose="02020603050405020304" pitchFamily="18" charset="0"/>
              <a:cs typeface="Times New Roman" panose="02020603050405020304" pitchFamily="18" charset="0"/>
            </a:endParaRPr>
          </a:p>
        </p:txBody>
      </p:sp>
      <p:pic>
        <p:nvPicPr>
          <p:cNvPr id="41" name="Image 5">
            <a:extLst>
              <a:ext uri="{FF2B5EF4-FFF2-40B4-BE49-F238E27FC236}">
                <a16:creationId xmlns:a16="http://schemas.microsoft.com/office/drawing/2014/main" id="{8F922B25-6C3E-A649-4AA3-DAF16A0B39A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797998" y="6070937"/>
            <a:ext cx="287179" cy="287179"/>
          </a:xfrm>
          <a:prstGeom prst="rect">
            <a:avLst/>
          </a:prstGeom>
        </p:spPr>
      </p:pic>
      <p:sp>
        <p:nvSpPr>
          <p:cNvPr id="42" name="Text 18">
            <a:extLst>
              <a:ext uri="{FF2B5EF4-FFF2-40B4-BE49-F238E27FC236}">
                <a16:creationId xmlns:a16="http://schemas.microsoft.com/office/drawing/2014/main" id="{3A7A6260-B150-C304-1C29-8F53A7B50DB6}"/>
              </a:ext>
            </a:extLst>
          </p:cNvPr>
          <p:cNvSpPr/>
          <p:nvPr/>
        </p:nvSpPr>
        <p:spPr>
          <a:xfrm>
            <a:off x="7622500" y="6722804"/>
            <a:ext cx="6050399" cy="625793"/>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50"/>
              </a:lnSpc>
              <a:buNone/>
            </a:pPr>
            <a:r>
              <a:rPr lang="en-US" sz="2500" b="1" dirty="0">
                <a:solidFill>
                  <a:schemeClr val="bg1"/>
                </a:solidFill>
                <a:latin typeface="Times New Roman" panose="02020603050405020304" pitchFamily="18" charset="0"/>
                <a:ea typeface="Unbounded" pitchFamily="34" charset="-122"/>
                <a:cs typeface="Times New Roman" panose="02020603050405020304" pitchFamily="18" charset="0"/>
              </a:rPr>
              <a:t>Secure user authentication and access control.</a:t>
            </a:r>
            <a:endParaRPr lang="en-US" sz="25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606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4E533-C452-6442-37FA-B5223B0EA6F1}"/>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CDDD30CA-4D05-6B19-3783-89E7B77253F4}"/>
              </a:ext>
            </a:extLst>
          </p:cNvPr>
          <p:cNvPicPr>
            <a:picLocks noChangeAspect="1"/>
          </p:cNvPicPr>
          <p:nvPr/>
        </p:nvPicPr>
        <p:blipFill>
          <a:blip r:embed="rId3">
            <a:alphaModFix amt="15000"/>
          </a:blip>
          <a:stretch>
            <a:fillRect/>
          </a:stretch>
        </p:blipFill>
        <p:spPr>
          <a:xfrm>
            <a:off x="-259826" y="-21589"/>
            <a:ext cx="15149198" cy="8268937"/>
          </a:xfrm>
          <a:prstGeom prst="rect">
            <a:avLst/>
          </a:prstGeom>
        </p:spPr>
      </p:pic>
      <p:pic>
        <p:nvPicPr>
          <p:cNvPr id="18" name="Picture 17">
            <a:extLst>
              <a:ext uri="{FF2B5EF4-FFF2-40B4-BE49-F238E27FC236}">
                <a16:creationId xmlns:a16="http://schemas.microsoft.com/office/drawing/2014/main" id="{E161B1D9-AD18-1FAD-1F5C-7EE16B6BEBD4}"/>
              </a:ext>
            </a:extLst>
          </p:cNvPr>
          <p:cNvPicPr>
            <a:picLocks noChangeAspect="1"/>
          </p:cNvPicPr>
          <p:nvPr/>
        </p:nvPicPr>
        <p:blipFill>
          <a:blip r:embed="rId4"/>
          <a:stretch>
            <a:fillRect/>
          </a:stretch>
        </p:blipFill>
        <p:spPr>
          <a:xfrm>
            <a:off x="12557525" y="7674421"/>
            <a:ext cx="2072875" cy="525317"/>
          </a:xfrm>
          <a:prstGeom prst="rect">
            <a:avLst/>
          </a:prstGeom>
        </p:spPr>
      </p:pic>
      <p:sp>
        <p:nvSpPr>
          <p:cNvPr id="20" name="Google Shape;104;p5">
            <a:extLst>
              <a:ext uri="{FF2B5EF4-FFF2-40B4-BE49-F238E27FC236}">
                <a16:creationId xmlns:a16="http://schemas.microsoft.com/office/drawing/2014/main" id="{BF80E5BA-B6AC-9094-E4C9-5D894473096B}"/>
              </a:ext>
            </a:extLst>
          </p:cNvPr>
          <p:cNvSpPr/>
          <p:nvPr/>
        </p:nvSpPr>
        <p:spPr>
          <a:xfrm>
            <a:off x="863798" y="629246"/>
            <a:ext cx="11637645" cy="771287"/>
          </a:xfrm>
          <a:prstGeom prst="rect">
            <a:avLst/>
          </a:prstGeom>
          <a:noFill/>
          <a:ln>
            <a:noFill/>
          </a:ln>
        </p:spPr>
        <p:txBody>
          <a:bodyPr spcFirstLastPara="1" wrap="square" lIns="0" tIns="0" rIns="0" bIns="0" anchor="t" anchorCtr="0">
            <a:noAutofit/>
          </a:bodyPr>
          <a:lstStyle/>
          <a:p>
            <a:pPr marL="0" marR="0" lvl="0" indent="0" algn="l" rtl="0">
              <a:lnSpc>
                <a:spcPct val="124742"/>
              </a:lnSpc>
              <a:spcBef>
                <a:spcPts val="0"/>
              </a:spcBef>
              <a:spcAft>
                <a:spcPts val="0"/>
              </a:spcAft>
              <a:buClr>
                <a:srgbClr val="F5F0F0"/>
              </a:buClr>
              <a:buSzPts val="4850"/>
              <a:buFont typeface="Merriweather"/>
              <a:buNone/>
            </a:pPr>
            <a:endParaRPr sz="4700" b="0" i="0" u="none" strike="noStrike" cap="none" dirty="0"/>
          </a:p>
        </p:txBody>
      </p:sp>
      <p:pic>
        <p:nvPicPr>
          <p:cNvPr id="2" name="Picture 1">
            <a:extLst>
              <a:ext uri="{FF2B5EF4-FFF2-40B4-BE49-F238E27FC236}">
                <a16:creationId xmlns:a16="http://schemas.microsoft.com/office/drawing/2014/main" id="{518088AB-EDAA-BA9C-7AC5-E3D81896FBEE}"/>
              </a:ext>
            </a:extLst>
          </p:cNvPr>
          <p:cNvPicPr>
            <a:picLocks noChangeAspect="1"/>
          </p:cNvPicPr>
          <p:nvPr/>
        </p:nvPicPr>
        <p:blipFill>
          <a:blip r:embed="rId5"/>
          <a:stretch>
            <a:fillRect/>
          </a:stretch>
        </p:blipFill>
        <p:spPr>
          <a:xfrm>
            <a:off x="0" y="0"/>
            <a:ext cx="14630400" cy="8229600"/>
          </a:xfrm>
          <a:prstGeom prst="rect">
            <a:avLst/>
          </a:prstGeom>
        </p:spPr>
      </p:pic>
      <p:pic>
        <p:nvPicPr>
          <p:cNvPr id="4" name="Picture 3">
            <a:extLst>
              <a:ext uri="{FF2B5EF4-FFF2-40B4-BE49-F238E27FC236}">
                <a16:creationId xmlns:a16="http://schemas.microsoft.com/office/drawing/2014/main" id="{D4986F96-1A86-59DE-F1AB-94EA7A41788F}"/>
              </a:ext>
            </a:extLst>
          </p:cNvPr>
          <p:cNvPicPr>
            <a:picLocks noChangeAspect="1"/>
          </p:cNvPicPr>
          <p:nvPr/>
        </p:nvPicPr>
        <p:blipFill>
          <a:blip r:embed="rId6"/>
          <a:stretch>
            <a:fillRect/>
          </a:stretch>
        </p:blipFill>
        <p:spPr>
          <a:xfrm>
            <a:off x="11853652" y="6977971"/>
            <a:ext cx="1295581" cy="295316"/>
          </a:xfrm>
          <a:prstGeom prst="rect">
            <a:avLst/>
          </a:prstGeom>
        </p:spPr>
      </p:pic>
    </p:spTree>
    <p:extLst>
      <p:ext uri="{BB962C8B-B14F-4D97-AF65-F5344CB8AC3E}">
        <p14:creationId xmlns:p14="http://schemas.microsoft.com/office/powerpoint/2010/main" val="1504478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C4A69-AEE9-A79A-F48B-668EF681A408}"/>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6F05BF93-7065-A1BD-8678-FA30F6843C64}"/>
              </a:ext>
            </a:extLst>
          </p:cNvPr>
          <p:cNvPicPr>
            <a:picLocks noChangeAspect="1"/>
          </p:cNvPicPr>
          <p:nvPr/>
        </p:nvPicPr>
        <p:blipFill>
          <a:blip r:embed="rId3">
            <a:alphaModFix amt="15000"/>
          </a:blip>
          <a:stretch>
            <a:fillRect/>
          </a:stretch>
        </p:blipFill>
        <p:spPr>
          <a:xfrm>
            <a:off x="-259400" y="-24097"/>
            <a:ext cx="15149198" cy="8268937"/>
          </a:xfrm>
          <a:prstGeom prst="rect">
            <a:avLst/>
          </a:prstGeom>
        </p:spPr>
      </p:pic>
      <p:sp>
        <p:nvSpPr>
          <p:cNvPr id="2" name="Text 0">
            <a:extLst>
              <a:ext uri="{FF2B5EF4-FFF2-40B4-BE49-F238E27FC236}">
                <a16:creationId xmlns:a16="http://schemas.microsoft.com/office/drawing/2014/main" id="{8C6BC2B4-CACE-DD20-D232-0EE54DFF1164}"/>
              </a:ext>
            </a:extLst>
          </p:cNvPr>
          <p:cNvSpPr/>
          <p:nvPr/>
        </p:nvSpPr>
        <p:spPr>
          <a:xfrm>
            <a:off x="715804" y="615089"/>
            <a:ext cx="4764881" cy="563285"/>
          </a:xfrm>
          <a:prstGeom prst="rect">
            <a:avLst/>
          </a:prstGeom>
          <a:noFill/>
          <a:ln/>
        </p:spPr>
        <p:txBody>
          <a:bodyPr wrap="none" lIns="0" tIns="0" rIns="0" bIns="0" rtlCol="0" anchor="t"/>
          <a:lstStyle/>
          <a:p>
            <a:pPr marL="0" indent="0" algn="l">
              <a:lnSpc>
                <a:spcPts val="4400"/>
              </a:lnSpc>
              <a:buNone/>
            </a:pPr>
            <a:r>
              <a:rPr lang="en-US" sz="3500" b="1" dirty="0">
                <a:solidFill>
                  <a:schemeClr val="bg1"/>
                </a:solidFill>
                <a:latin typeface="Times New Roman" panose="02020603050405020304" pitchFamily="18" charset="0"/>
                <a:ea typeface="Unbounded" pitchFamily="34" charset="-122"/>
                <a:cs typeface="Times New Roman" panose="02020603050405020304" pitchFamily="18" charset="0"/>
              </a:rPr>
              <a:t>References</a:t>
            </a:r>
            <a:endParaRPr lang="en-US" sz="3500" b="1" dirty="0">
              <a:solidFill>
                <a:schemeClr val="bg1"/>
              </a:solidFill>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AB71D734-7FE3-0A2F-B466-847AA22F98BC}"/>
              </a:ext>
            </a:extLst>
          </p:cNvPr>
          <p:cNvPicPr>
            <a:picLocks noChangeAspect="1"/>
          </p:cNvPicPr>
          <p:nvPr/>
        </p:nvPicPr>
        <p:blipFill>
          <a:blip r:embed="rId4"/>
          <a:stretch>
            <a:fillRect/>
          </a:stretch>
        </p:blipFill>
        <p:spPr>
          <a:xfrm>
            <a:off x="12446013" y="7704283"/>
            <a:ext cx="2072875" cy="525317"/>
          </a:xfrm>
          <a:prstGeom prst="rect">
            <a:avLst/>
          </a:prstGeom>
        </p:spPr>
      </p:pic>
      <p:sp>
        <p:nvSpPr>
          <p:cNvPr id="17" name="TextBox 16">
            <a:extLst>
              <a:ext uri="{FF2B5EF4-FFF2-40B4-BE49-F238E27FC236}">
                <a16:creationId xmlns:a16="http://schemas.microsoft.com/office/drawing/2014/main" id="{4E649FB2-65ED-A4EF-45EE-E4BE1659F57D}"/>
              </a:ext>
            </a:extLst>
          </p:cNvPr>
          <p:cNvSpPr txBox="1"/>
          <p:nvPr/>
        </p:nvSpPr>
        <p:spPr>
          <a:xfrm>
            <a:off x="618649" y="1392780"/>
            <a:ext cx="12040076" cy="5940088"/>
          </a:xfrm>
          <a:prstGeom prst="rect">
            <a:avLst/>
          </a:prstGeom>
          <a:noFill/>
        </p:spPr>
        <p:txBody>
          <a:bodyPr wrap="square" rtlCol="0">
            <a:spAutoFit/>
          </a:bodyPr>
          <a:lstStyle/>
          <a:p>
            <a:r>
              <a:rPr lang="en-IN" sz="2000" b="1" dirty="0">
                <a:solidFill>
                  <a:schemeClr val="bg2"/>
                </a:solidFill>
                <a:latin typeface="Times New Roman" panose="02020603050405020304" pitchFamily="18" charset="0"/>
                <a:cs typeface="Times New Roman" panose="02020603050405020304" pitchFamily="18" charset="0"/>
              </a:rPr>
              <a:t>[1] Hsiu-An Lee1, MS; Hsin-Hua Kung, BS; Jai Ganesh </a:t>
            </a:r>
            <a:r>
              <a:rPr lang="en-IN" sz="2000" b="1" dirty="0" err="1">
                <a:solidFill>
                  <a:schemeClr val="bg2"/>
                </a:solidFill>
                <a:latin typeface="Times New Roman" panose="02020603050405020304" pitchFamily="18" charset="0"/>
                <a:cs typeface="Times New Roman" panose="02020603050405020304" pitchFamily="18" charset="0"/>
              </a:rPr>
              <a:t>Udayasankaran</a:t>
            </a:r>
            <a:r>
              <a:rPr lang="en-IN" sz="2000" b="1" dirty="0">
                <a:solidFill>
                  <a:schemeClr val="bg2"/>
                </a:solidFill>
                <a:latin typeface="Times New Roman" panose="02020603050405020304" pitchFamily="18" charset="0"/>
                <a:cs typeface="Times New Roman" panose="02020603050405020304" pitchFamily="18" charset="0"/>
              </a:rPr>
              <a:t>, </a:t>
            </a:r>
            <a:r>
              <a:rPr lang="en-IN" sz="2000" b="1" dirty="0" err="1">
                <a:solidFill>
                  <a:schemeClr val="bg2"/>
                </a:solidFill>
                <a:latin typeface="Times New Roman" panose="02020603050405020304" pitchFamily="18" charset="0"/>
                <a:cs typeface="Times New Roman" panose="02020603050405020304" pitchFamily="18" charset="0"/>
              </a:rPr>
              <a:t>Boonchai</a:t>
            </a:r>
            <a:r>
              <a:rPr lang="en-IN" sz="2000" b="1" dirty="0">
                <a:solidFill>
                  <a:schemeClr val="bg2"/>
                </a:solidFill>
                <a:latin typeface="Times New Roman" panose="02020603050405020304" pitchFamily="18" charset="0"/>
                <a:cs typeface="Times New Roman" panose="02020603050405020304" pitchFamily="18" charset="0"/>
              </a:rPr>
              <a:t> </a:t>
            </a:r>
            <a:r>
              <a:rPr lang="en-IN" sz="2000" b="1" dirty="0" err="1">
                <a:solidFill>
                  <a:schemeClr val="bg2"/>
                </a:solidFill>
                <a:latin typeface="Times New Roman" panose="02020603050405020304" pitchFamily="18" charset="0"/>
                <a:cs typeface="Times New Roman" panose="02020603050405020304" pitchFamily="18" charset="0"/>
              </a:rPr>
              <a:t>Kijsanayotin</a:t>
            </a:r>
            <a:r>
              <a:rPr lang="en-IN" sz="2000" b="1" dirty="0">
                <a:solidFill>
                  <a:schemeClr val="bg2"/>
                </a:solidFill>
                <a:latin typeface="Times New Roman" panose="02020603050405020304" pitchFamily="18" charset="0"/>
                <a:cs typeface="Times New Roman" panose="02020603050405020304" pitchFamily="18" charset="0"/>
              </a:rPr>
              <a:t>,  Alvin B Marcelo, Louis R Chao1, Chien-Yeh Hsu2, “An Architecture and Management Platform for Blockchain-Based Personal Health Record Exchange: Development and Usability Study,” 2020. </a:t>
            </a:r>
          </a:p>
          <a:p>
            <a:endParaRPr lang="en-IN" sz="2000" b="1" dirty="0">
              <a:solidFill>
                <a:schemeClr val="bg2"/>
              </a:solidFill>
              <a:latin typeface="Times New Roman" panose="02020603050405020304" pitchFamily="18" charset="0"/>
              <a:cs typeface="Times New Roman" panose="02020603050405020304" pitchFamily="18" charset="0"/>
            </a:endParaRPr>
          </a:p>
          <a:p>
            <a:r>
              <a:rPr lang="en-IN" sz="2000" b="1" dirty="0">
                <a:solidFill>
                  <a:schemeClr val="bg2"/>
                </a:solidFill>
                <a:latin typeface="Times New Roman" panose="02020603050405020304" pitchFamily="18" charset="0"/>
                <a:cs typeface="Times New Roman" panose="02020603050405020304" pitchFamily="18" charset="0"/>
              </a:rPr>
              <a:t>[2] C. N. Vorisek, M. Lehne, S. A. I. Klopfenstein, P. J. Mayer, A. </a:t>
            </a:r>
            <a:r>
              <a:rPr lang="en-IN" sz="2000" b="1" dirty="0" err="1">
                <a:solidFill>
                  <a:schemeClr val="bg2"/>
                </a:solidFill>
                <a:latin typeface="Times New Roman" panose="02020603050405020304" pitchFamily="18" charset="0"/>
                <a:cs typeface="Times New Roman" panose="02020603050405020304" pitchFamily="18" charset="0"/>
              </a:rPr>
              <a:t>Bartschke</a:t>
            </a:r>
            <a:r>
              <a:rPr lang="en-IN" sz="2000" b="1" dirty="0">
                <a:solidFill>
                  <a:schemeClr val="bg2"/>
                </a:solidFill>
                <a:latin typeface="Times New Roman" panose="02020603050405020304" pitchFamily="18" charset="0"/>
                <a:cs typeface="Times New Roman" panose="02020603050405020304" pitchFamily="18" charset="0"/>
              </a:rPr>
              <a:t>, T. Haese, and S. Thun, “Fast Healthcare Interoperability Resources (FHIR) for interoperability in health research: A systematic review,” JMIR Medical Informatics, vol. 10, no. 7, e35724, 2022. </a:t>
            </a:r>
          </a:p>
          <a:p>
            <a:endParaRPr lang="en-IN" sz="2000" b="1" dirty="0">
              <a:solidFill>
                <a:schemeClr val="bg2"/>
              </a:solidFill>
              <a:latin typeface="Times New Roman" panose="02020603050405020304" pitchFamily="18" charset="0"/>
              <a:cs typeface="Times New Roman" panose="02020603050405020304" pitchFamily="18" charset="0"/>
            </a:endParaRPr>
          </a:p>
          <a:p>
            <a:r>
              <a:rPr lang="en-IN" sz="2000" b="1" dirty="0">
                <a:solidFill>
                  <a:schemeClr val="bg2"/>
                </a:solidFill>
                <a:latin typeface="Times New Roman" panose="02020603050405020304" pitchFamily="18" charset="0"/>
                <a:cs typeface="Times New Roman" panose="02020603050405020304" pitchFamily="18" charset="0"/>
              </a:rPr>
              <a:t>[3] M. Badawy, N. Ramadan, and H. A. </a:t>
            </a:r>
            <a:r>
              <a:rPr lang="en-IN" sz="2000" b="1" dirty="0" err="1">
                <a:solidFill>
                  <a:schemeClr val="bg2"/>
                </a:solidFill>
                <a:latin typeface="Times New Roman" panose="02020603050405020304" pitchFamily="18" charset="0"/>
                <a:cs typeface="Times New Roman" panose="02020603050405020304" pitchFamily="18" charset="0"/>
              </a:rPr>
              <a:t>Hefny</a:t>
            </a:r>
            <a:r>
              <a:rPr lang="en-IN" sz="2000" b="1" dirty="0">
                <a:solidFill>
                  <a:schemeClr val="bg2"/>
                </a:solidFill>
                <a:latin typeface="Times New Roman" panose="02020603050405020304" pitchFamily="18" charset="0"/>
                <a:cs typeface="Times New Roman" panose="02020603050405020304" pitchFamily="18" charset="0"/>
              </a:rPr>
              <a:t>, “Healthcare predictive analytics using machine learning and deep learning techniques: a survey,” Journal of Electrical Systems and Information Technology, vol.10, no.40, 2023. </a:t>
            </a:r>
          </a:p>
          <a:p>
            <a:endParaRPr lang="en-IN" sz="2000" b="1" dirty="0">
              <a:solidFill>
                <a:schemeClr val="bg2"/>
              </a:solidFill>
              <a:latin typeface="Times New Roman" panose="02020603050405020304" pitchFamily="18" charset="0"/>
              <a:cs typeface="Times New Roman" panose="02020603050405020304" pitchFamily="18" charset="0"/>
            </a:endParaRPr>
          </a:p>
          <a:p>
            <a:r>
              <a:rPr lang="en-IN" sz="2000" b="1" dirty="0">
                <a:solidFill>
                  <a:schemeClr val="bg2"/>
                </a:solidFill>
                <a:latin typeface="Times New Roman" panose="02020603050405020304" pitchFamily="18" charset="0"/>
                <a:cs typeface="Times New Roman" panose="02020603050405020304" pitchFamily="18" charset="0"/>
              </a:rPr>
              <a:t>[4] C. V. Ibeh, O. A. </a:t>
            </a:r>
            <a:r>
              <a:rPr lang="en-IN" sz="2000" b="1" dirty="0" err="1">
                <a:solidFill>
                  <a:schemeClr val="bg2"/>
                </a:solidFill>
                <a:latin typeface="Times New Roman" panose="02020603050405020304" pitchFamily="18" charset="0"/>
                <a:cs typeface="Times New Roman" panose="02020603050405020304" pitchFamily="18" charset="0"/>
              </a:rPr>
              <a:t>Elufioye</a:t>
            </a:r>
            <a:r>
              <a:rPr lang="en-IN" sz="2000" b="1" dirty="0">
                <a:solidFill>
                  <a:schemeClr val="bg2"/>
                </a:solidFill>
                <a:latin typeface="Times New Roman" panose="02020603050405020304" pitchFamily="18" charset="0"/>
                <a:cs typeface="Times New Roman" panose="02020603050405020304" pitchFamily="18" charset="0"/>
              </a:rPr>
              <a:t>, T. </a:t>
            </a:r>
            <a:r>
              <a:rPr lang="en-IN" sz="2000" b="1" dirty="0" err="1">
                <a:solidFill>
                  <a:schemeClr val="bg2"/>
                </a:solidFill>
                <a:latin typeface="Times New Roman" panose="02020603050405020304" pitchFamily="18" charset="0"/>
                <a:cs typeface="Times New Roman" panose="02020603050405020304" pitchFamily="18" charset="0"/>
              </a:rPr>
              <a:t>Olorunsogo</a:t>
            </a:r>
            <a:r>
              <a:rPr lang="en-IN" sz="2000" b="1" dirty="0">
                <a:solidFill>
                  <a:schemeClr val="bg2"/>
                </a:solidFill>
                <a:latin typeface="Times New Roman" panose="02020603050405020304" pitchFamily="18" charset="0"/>
                <a:cs typeface="Times New Roman" panose="02020603050405020304" pitchFamily="18" charset="0"/>
              </a:rPr>
              <a:t>, O. F. </a:t>
            </a:r>
            <a:r>
              <a:rPr lang="en-IN" sz="2000" b="1" dirty="0" err="1">
                <a:solidFill>
                  <a:schemeClr val="bg2"/>
                </a:solidFill>
                <a:latin typeface="Times New Roman" panose="02020603050405020304" pitchFamily="18" charset="0"/>
                <a:cs typeface="Times New Roman" panose="02020603050405020304" pitchFamily="18" charset="0"/>
              </a:rPr>
              <a:t>Asuzu</a:t>
            </a:r>
            <a:r>
              <a:rPr lang="en-IN" sz="2000" b="1" dirty="0">
                <a:solidFill>
                  <a:schemeClr val="bg2"/>
                </a:solidFill>
                <a:latin typeface="Times New Roman" panose="02020603050405020304" pitchFamily="18" charset="0"/>
                <a:cs typeface="Times New Roman" panose="02020603050405020304" pitchFamily="18" charset="0"/>
              </a:rPr>
              <a:t>, N. L. </a:t>
            </a:r>
            <a:r>
              <a:rPr lang="en-IN" sz="2000" b="1" dirty="0" err="1">
                <a:solidFill>
                  <a:schemeClr val="bg2"/>
                </a:solidFill>
                <a:latin typeface="Times New Roman" panose="02020603050405020304" pitchFamily="18" charset="0"/>
                <a:cs typeface="Times New Roman" panose="02020603050405020304" pitchFamily="18" charset="0"/>
              </a:rPr>
              <a:t>Nduubuisi</a:t>
            </a:r>
            <a:r>
              <a:rPr lang="en-IN" sz="2000" b="1" dirty="0">
                <a:solidFill>
                  <a:schemeClr val="bg2"/>
                </a:solidFill>
                <a:latin typeface="Times New Roman" panose="02020603050405020304" pitchFamily="18" charset="0"/>
                <a:cs typeface="Times New Roman" panose="02020603050405020304" pitchFamily="18" charset="0"/>
              </a:rPr>
              <a:t>, and A. I. </a:t>
            </a:r>
            <a:r>
              <a:rPr lang="en-IN" sz="2000" b="1" dirty="0" err="1">
                <a:solidFill>
                  <a:schemeClr val="bg2"/>
                </a:solidFill>
                <a:latin typeface="Times New Roman" panose="02020603050405020304" pitchFamily="18" charset="0"/>
                <a:cs typeface="Times New Roman" panose="02020603050405020304" pitchFamily="18" charset="0"/>
              </a:rPr>
              <a:t>Daraojimba</a:t>
            </a:r>
            <a:r>
              <a:rPr lang="en-IN" sz="2000" b="1" dirty="0">
                <a:solidFill>
                  <a:schemeClr val="bg2"/>
                </a:solidFill>
                <a:latin typeface="Times New Roman" panose="02020603050405020304" pitchFamily="18" charset="0"/>
                <a:cs typeface="Times New Roman" panose="02020603050405020304" pitchFamily="18" charset="0"/>
              </a:rPr>
              <a:t>, “Data analytics in healthcare: A review of patient-centric approaches and healthcare delivery,” World Journal of Advanced Research and Reviews, vol. 21, no. 2, pp. 1750–1760, 2024. </a:t>
            </a:r>
          </a:p>
          <a:p>
            <a:endParaRPr lang="en-IN" sz="2000" b="1" dirty="0">
              <a:solidFill>
                <a:schemeClr val="bg2"/>
              </a:solidFill>
              <a:latin typeface="Times New Roman" panose="02020603050405020304" pitchFamily="18" charset="0"/>
              <a:cs typeface="Times New Roman" panose="02020603050405020304" pitchFamily="18" charset="0"/>
            </a:endParaRPr>
          </a:p>
          <a:p>
            <a:r>
              <a:rPr lang="en-IN" sz="2000" b="1" dirty="0">
                <a:solidFill>
                  <a:schemeClr val="bg2"/>
                </a:solidFill>
                <a:latin typeface="Times New Roman" panose="02020603050405020304" pitchFamily="18" charset="0"/>
                <a:cs typeface="Times New Roman" panose="02020603050405020304" pitchFamily="18" charset="0"/>
              </a:rPr>
              <a:t>[5] F. </a:t>
            </a:r>
            <a:r>
              <a:rPr lang="en-IN" sz="2000" b="1" dirty="0" err="1">
                <a:solidFill>
                  <a:schemeClr val="bg2"/>
                </a:solidFill>
                <a:latin typeface="Times New Roman" panose="02020603050405020304" pitchFamily="18" charset="0"/>
                <a:cs typeface="Times New Roman" panose="02020603050405020304" pitchFamily="18" charset="0"/>
              </a:rPr>
              <a:t>G.Serra</a:t>
            </a:r>
            <a:r>
              <a:rPr lang="en-IN" sz="2000" b="1" dirty="0">
                <a:solidFill>
                  <a:schemeClr val="bg2"/>
                </a:solidFill>
                <a:latin typeface="Times New Roman" panose="02020603050405020304" pitchFamily="18" charset="0"/>
                <a:cs typeface="Times New Roman" panose="02020603050405020304" pitchFamily="18" charset="0"/>
              </a:rPr>
              <a:t>, “A Secure AI and Machine Learning–Enabled Cloud-Native Framework for Scalable Healthcare Analytics and API Interoperability,” International Journal of Research and Applied Innovations, vol.7, no.2, pp.1–8, 2024.</a:t>
            </a:r>
          </a:p>
        </p:txBody>
      </p:sp>
    </p:spTree>
    <p:extLst>
      <p:ext uri="{BB962C8B-B14F-4D97-AF65-F5344CB8AC3E}">
        <p14:creationId xmlns:p14="http://schemas.microsoft.com/office/powerpoint/2010/main" val="33120111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TotalTime>
  <Words>1321</Words>
  <Application>Microsoft Office PowerPoint</Application>
  <PresentationFormat>Custom</PresentationFormat>
  <Paragraphs>134</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Times New Roman</vt:lpstr>
      <vt:lpstr>Arial</vt:lpstr>
      <vt:lpstr>Merriweather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Sona Maria</cp:lastModifiedBy>
  <cp:revision>40</cp:revision>
  <dcterms:created xsi:type="dcterms:W3CDTF">2026-02-02T15:13:43Z</dcterms:created>
  <dcterms:modified xsi:type="dcterms:W3CDTF">2026-03-13T20:16:27Z</dcterms:modified>
</cp:coreProperties>
</file>